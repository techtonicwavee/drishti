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PRESENT (~30 s): Don't read the references. Say: "Every major design decision in Drishti maps to a published standard or peer-reviewed paper," then point at the green "In Drishti" line under two or three groups — for example OT security → air gap, RAG research → citation checks, secure audit logs → our hash-chained audit trail.
FULL REFERENCE LIST
1. NIST SP 800-82 Rev. 3, Guide to Operational Technology (OT) Security, Sept 2023 — https://csrc.nist.gov/pubs/sp/800/82/r3/final
2. ISA/IEC 62443 series, Security for Industrial Automation and Control Systems — https://www.isa.org
3. NIST AI Risk Management Framework (AI RMF 1.0), Jan 2023 — https://www.nist.gov/itl/ai-risk-management-framework
4. India AI Governance Guidelines, MeitY / IndiaAI Mission, Nov 2025 — https://indiaai.gov.in
5. Lewis et al., Retrieval-Augmented Generation for Knowledge-Intensive NLP Tasks, NeurIPS 2020 — https://arxiv.org/abs/2005.11401
6. Nussbaum et al., Nomic Embed: Training a Reproducible Long Context Text Embedder, 2024 — https://arxiv.org/abs/2402.01613
7. Yao et al., ReAct: Synergizing Reasoning and Acting in Language Models, ICLR 2023 — https://arxiv.org/abs/2210.03629
8. Qwen Team, Qwen2.5 Technical Report, 2024 — https://arxiv.org/abs/2412.15115
9. Qwen Team, Qwen2.5-VL Technical Report, 2025 — https://arxiv.org/abs/2502.13923
10. Kwon et al., Efficient Memory Management for LLM Serving with PagedAttention (vLLM), SOSP 2023 — https://arxiv.org/abs/2309.06180
11. NIST SP 800-190, Application Container Security Guide, 2017 — https://doi.org/10.6028/NIST.SP.800-190
12. Schneier &amp; Kelsey, Secure Audit Logs to Support Computer Forensics, ACM TISSEC 2(2), 1999 — https://doi.org/10.1145/317087.317089
Domain standards in the plant knowledge graph: API 510 (Pressure Vessel Inspection Code), ASME BPVC Section VIII, API 521 (Pressure-relieving and Depressuring Systems), OSHA 29 CFR 1910.146 (Confined Spaces), ISO 10816-3 (superseded by ISO 20816-3:2022).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POPEYE  ·  SIH26117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3385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published standards and peer-reviewed research — </a:t>
            </a:r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what we built.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475488"/>
            <a:ext cx="1901952" cy="56692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01752"/>
            <a:ext cx="1947672" cy="777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664208"/>
            <a:ext cx="3649370" cy="1956816"/>
          </a:xfrm>
          <a:prstGeom prst="roundRect">
            <a:avLst>
              <a:gd name="adj" fmla="val 4673"/>
            </a:avLst>
          </a:prstGeom>
          <a:solidFill>
            <a:srgbClr val="F3F5F8"/>
          </a:solidFill>
          <a:ln/>
        </p:spPr>
      </p:sp>
      <p:sp>
        <p:nvSpPr>
          <p:cNvPr id="8" name="Shape 4"/>
          <p:cNvSpPr/>
          <p:nvPr/>
        </p:nvSpPr>
        <p:spPr>
          <a:xfrm>
            <a:off x="603504" y="1792224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03504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987552" y="1792224"/>
            <a:ext cx="26435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&amp; OT Security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22" y="1837944"/>
            <a:ext cx="201168" cy="2011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85216" y="2157984"/>
            <a:ext cx="339333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13232" y="2203704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800-82 Rev. 3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713232" y="2377440"/>
            <a:ext cx="31921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to Operational Technology Security · NIST, 2023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532888"/>
            <a:ext cx="82296" cy="822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1248" y="2505456"/>
            <a:ext cx="30641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csrc.nist.gov/pubs/sp/800/82/r3/final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585216" y="2724912"/>
            <a:ext cx="339333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13232" y="2770632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ISA/IEC 62443 series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713232" y="2944368"/>
            <a:ext cx="31921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Automation &amp; Control Systems Security</a:t>
            </a:r>
            <a:endParaRPr lang="en-US" sz="8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099816"/>
            <a:ext cx="82296" cy="822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41248" y="3072384"/>
            <a:ext cx="30641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isa.org · ISA/IEC 62443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585216" y="3291840"/>
            <a:ext cx="3393338" cy="237744"/>
          </a:xfrm>
          <a:prstGeom prst="roundRect">
            <a:avLst>
              <a:gd name="adj" fmla="val 19231"/>
            </a:avLst>
          </a:prstGeom>
          <a:solidFill>
            <a:srgbClr val="E3F3F1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3360420"/>
            <a:ext cx="100584" cy="10058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41248" y="3291840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Drishti: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Plant-network isolation · zero external calls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4271162" y="1664208"/>
            <a:ext cx="3649370" cy="1956816"/>
          </a:xfrm>
          <a:prstGeom prst="roundRect">
            <a:avLst>
              <a:gd name="adj" fmla="val 4673"/>
            </a:avLst>
          </a:prstGeom>
          <a:solidFill>
            <a:srgbClr val="F3F5F8"/>
          </a:solidFill>
          <a:ln/>
        </p:spPr>
      </p:sp>
      <p:sp>
        <p:nvSpPr>
          <p:cNvPr id="26" name="Shape 18"/>
          <p:cNvSpPr/>
          <p:nvPr/>
        </p:nvSpPr>
        <p:spPr>
          <a:xfrm>
            <a:off x="4417466" y="1792224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4417466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4801514" y="1792224"/>
            <a:ext cx="26435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3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485" y="1837944"/>
            <a:ext cx="201168" cy="201168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4399178" y="2157984"/>
            <a:ext cx="339333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4527194" y="2203704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</a:t>
            </a:r>
            <a:endParaRPr lang="en-US" sz="1050" dirty="0"/>
          </a:p>
        </p:txBody>
      </p:sp>
      <p:sp>
        <p:nvSpPr>
          <p:cNvPr id="32" name="Text 23"/>
          <p:cNvSpPr txBox="1"/>
          <p:nvPr/>
        </p:nvSpPr>
        <p:spPr>
          <a:xfrm>
            <a:off x="4527194" y="2377440"/>
            <a:ext cx="31921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Management Framework · NIST, 2023</a:t>
            </a:r>
            <a:endParaRPr lang="en-US" sz="8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7194" y="2532888"/>
            <a:ext cx="82296" cy="8229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4655210" y="2505456"/>
            <a:ext cx="30641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nist.gov/itl/ai-risk-management-framework</a:t>
            </a:r>
            <a:endParaRPr lang="en-US" sz="800" dirty="0"/>
          </a:p>
        </p:txBody>
      </p:sp>
      <p:sp>
        <p:nvSpPr>
          <p:cNvPr id="35" name="Shape 25"/>
          <p:cNvSpPr/>
          <p:nvPr/>
        </p:nvSpPr>
        <p:spPr>
          <a:xfrm>
            <a:off x="4399178" y="2724912"/>
            <a:ext cx="339333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4527194" y="2770632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AI Governance Guidelines</a:t>
            </a:r>
            <a:endParaRPr lang="en-US" sz="1050" dirty="0"/>
          </a:p>
        </p:txBody>
      </p:sp>
      <p:sp>
        <p:nvSpPr>
          <p:cNvPr id="37" name="Text 27"/>
          <p:cNvSpPr txBox="1"/>
          <p:nvPr/>
        </p:nvSpPr>
        <p:spPr>
          <a:xfrm>
            <a:off x="4527194" y="2944368"/>
            <a:ext cx="31921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MeitY, IndiaAI Mission · Nov 2025</a:t>
            </a:r>
            <a:endParaRPr lang="en-US" sz="85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7194" y="3099816"/>
            <a:ext cx="82296" cy="8229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4655210" y="3072384"/>
            <a:ext cx="30641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indiaai.gov.in</a:t>
            </a:r>
            <a:endParaRPr lang="en-US" sz="800" dirty="0"/>
          </a:p>
        </p:txBody>
      </p:sp>
      <p:sp>
        <p:nvSpPr>
          <p:cNvPr id="40" name="Shape 29"/>
          <p:cNvSpPr/>
          <p:nvPr/>
        </p:nvSpPr>
        <p:spPr>
          <a:xfrm>
            <a:off x="4399178" y="3291840"/>
            <a:ext cx="3393338" cy="237744"/>
          </a:xfrm>
          <a:prstGeom prst="roundRect">
            <a:avLst>
              <a:gd name="adj" fmla="val 19231"/>
            </a:avLst>
          </a:prstGeom>
          <a:solidFill>
            <a:srgbClr val="E3F3F1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0618" y="3360420"/>
            <a:ext cx="100584" cy="100584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4655210" y="3291840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Drishti: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 · audit trail · sign-off block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8085125" y="1664208"/>
            <a:ext cx="3649370" cy="1956816"/>
          </a:xfrm>
          <a:prstGeom prst="roundRect">
            <a:avLst>
              <a:gd name="adj" fmla="val 4673"/>
            </a:avLst>
          </a:prstGeom>
          <a:solidFill>
            <a:srgbClr val="F3F5F8"/>
          </a:solidFill>
          <a:ln/>
        </p:spPr>
      </p:sp>
      <p:sp>
        <p:nvSpPr>
          <p:cNvPr id="44" name="Shape 32"/>
          <p:cNvSpPr/>
          <p:nvPr/>
        </p:nvSpPr>
        <p:spPr>
          <a:xfrm>
            <a:off x="8231429" y="1792224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5" name="Text 33"/>
          <p:cNvSpPr txBox="1"/>
          <p:nvPr/>
        </p:nvSpPr>
        <p:spPr>
          <a:xfrm>
            <a:off x="8231429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34"/>
          <p:cNvSpPr txBox="1"/>
          <p:nvPr/>
        </p:nvSpPr>
        <p:spPr>
          <a:xfrm>
            <a:off x="8615477" y="1792224"/>
            <a:ext cx="26435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Grounding</a:t>
            </a:r>
            <a:endParaRPr lang="en-US" sz="13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50447" y="1837944"/>
            <a:ext cx="201168" cy="201168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213141" y="2157984"/>
            <a:ext cx="339333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49" name="Text 36"/>
          <p:cNvSpPr txBox="1"/>
          <p:nvPr/>
        </p:nvSpPr>
        <p:spPr>
          <a:xfrm>
            <a:off x="8341157" y="2203704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— RAG</a:t>
            </a:r>
            <a:endParaRPr lang="en-US" sz="1050" dirty="0"/>
          </a:p>
        </p:txBody>
      </p:sp>
      <p:sp>
        <p:nvSpPr>
          <p:cNvPr id="50" name="Text 37"/>
          <p:cNvSpPr txBox="1"/>
          <p:nvPr/>
        </p:nvSpPr>
        <p:spPr>
          <a:xfrm>
            <a:off x="8341157" y="2377440"/>
            <a:ext cx="31921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· NeurIPS 2020</a:t>
            </a:r>
            <a:endParaRPr lang="en-US" sz="85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1157" y="2532888"/>
            <a:ext cx="82296" cy="82296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8469173" y="2505456"/>
            <a:ext cx="30641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arxiv.org/abs/2005.11401</a:t>
            </a:r>
            <a:endParaRPr lang="en-US" sz="800" dirty="0"/>
          </a:p>
        </p:txBody>
      </p:sp>
      <p:sp>
        <p:nvSpPr>
          <p:cNvPr id="53" name="Shape 39"/>
          <p:cNvSpPr/>
          <p:nvPr/>
        </p:nvSpPr>
        <p:spPr>
          <a:xfrm>
            <a:off x="8213141" y="2724912"/>
            <a:ext cx="339333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54" name="Text 40"/>
          <p:cNvSpPr txBox="1"/>
          <p:nvPr/>
        </p:nvSpPr>
        <p:spPr>
          <a:xfrm>
            <a:off x="8341157" y="2770632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Nussbaum et al. — Nomic Embed</a:t>
            </a:r>
            <a:endParaRPr lang="en-US" sz="1050" dirty="0"/>
          </a:p>
        </p:txBody>
      </p:sp>
      <p:sp>
        <p:nvSpPr>
          <p:cNvPr id="55" name="Text 41"/>
          <p:cNvSpPr txBox="1"/>
          <p:nvPr/>
        </p:nvSpPr>
        <p:spPr>
          <a:xfrm>
            <a:off x="8341157" y="2944368"/>
            <a:ext cx="31921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long-context embedder · 2024</a:t>
            </a:r>
            <a:endParaRPr lang="en-US" sz="850" dirty="0"/>
          </a:p>
        </p:txBody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1157" y="3099816"/>
            <a:ext cx="82296" cy="82296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8469173" y="3072384"/>
            <a:ext cx="30641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arxiv.org/abs/2402.01613</a:t>
            </a:r>
            <a:endParaRPr lang="en-US" sz="800" dirty="0"/>
          </a:p>
        </p:txBody>
      </p:sp>
      <p:sp>
        <p:nvSpPr>
          <p:cNvPr id="58" name="Shape 43"/>
          <p:cNvSpPr/>
          <p:nvPr/>
        </p:nvSpPr>
        <p:spPr>
          <a:xfrm>
            <a:off x="8213141" y="3291840"/>
            <a:ext cx="3393338" cy="237744"/>
          </a:xfrm>
          <a:prstGeom prst="roundRect">
            <a:avLst>
              <a:gd name="adj" fmla="val 19231"/>
            </a:avLst>
          </a:prstGeom>
          <a:solidFill>
            <a:srgbClr val="E3F3F1"/>
          </a:solidFill>
          <a:ln/>
        </p:spPr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4581" y="3360420"/>
            <a:ext cx="100584" cy="100584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8469173" y="3291840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Drishti: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· relevance gate · citation checks</a:t>
            </a:r>
            <a:endParaRPr lang="en-US" sz="900" dirty="0"/>
          </a:p>
        </p:txBody>
      </p:sp>
      <p:sp>
        <p:nvSpPr>
          <p:cNvPr id="61" name="Shape 45"/>
          <p:cNvSpPr/>
          <p:nvPr/>
        </p:nvSpPr>
        <p:spPr>
          <a:xfrm>
            <a:off x="457200" y="3767328"/>
            <a:ext cx="3649370" cy="1956816"/>
          </a:xfrm>
          <a:prstGeom prst="roundRect">
            <a:avLst>
              <a:gd name="adj" fmla="val 4673"/>
            </a:avLst>
          </a:prstGeom>
          <a:solidFill>
            <a:srgbClr val="F3F5F8"/>
          </a:solidFill>
          <a:ln/>
        </p:spPr>
      </p:sp>
      <p:sp>
        <p:nvSpPr>
          <p:cNvPr id="62" name="Shape 46"/>
          <p:cNvSpPr/>
          <p:nvPr/>
        </p:nvSpPr>
        <p:spPr>
          <a:xfrm>
            <a:off x="603504" y="3895344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3" name="Text 47"/>
          <p:cNvSpPr txBox="1"/>
          <p:nvPr/>
        </p:nvSpPr>
        <p:spPr>
          <a:xfrm>
            <a:off x="603504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4" name="Text 48"/>
          <p:cNvSpPr txBox="1"/>
          <p:nvPr/>
        </p:nvSpPr>
        <p:spPr>
          <a:xfrm>
            <a:off x="987552" y="3895344"/>
            <a:ext cx="26435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Reasoning Models</a:t>
            </a:r>
            <a:endParaRPr lang="en-US" sz="1300" dirty="0"/>
          </a:p>
        </p:txBody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22522" y="3941064"/>
            <a:ext cx="201168" cy="201168"/>
          </a:xfrm>
          <a:prstGeom prst="rect">
            <a:avLst/>
          </a:prstGeom>
        </p:spPr>
      </p:pic>
      <p:sp>
        <p:nvSpPr>
          <p:cNvPr id="66" name="Shape 49"/>
          <p:cNvSpPr/>
          <p:nvPr/>
        </p:nvSpPr>
        <p:spPr>
          <a:xfrm>
            <a:off x="585216" y="4261104"/>
            <a:ext cx="339333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67" name="Text 50"/>
          <p:cNvSpPr txBox="1"/>
          <p:nvPr/>
        </p:nvSpPr>
        <p:spPr>
          <a:xfrm>
            <a:off x="713232" y="4306824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 — ReAct</a:t>
            </a:r>
            <a:endParaRPr lang="en-US" sz="1050" dirty="0"/>
          </a:p>
        </p:txBody>
      </p:sp>
      <p:sp>
        <p:nvSpPr>
          <p:cNvPr id="68" name="Text 51"/>
          <p:cNvSpPr txBox="1"/>
          <p:nvPr/>
        </p:nvSpPr>
        <p:spPr>
          <a:xfrm>
            <a:off x="713232" y="4480560"/>
            <a:ext cx="31921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acting with tools · ICLR 2023</a:t>
            </a:r>
            <a:endParaRPr lang="en-US" sz="850" dirty="0"/>
          </a:p>
        </p:txBody>
      </p:sp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3232" y="4636008"/>
            <a:ext cx="82296" cy="82296"/>
          </a:xfrm>
          <a:prstGeom prst="rect">
            <a:avLst/>
          </a:prstGeom>
        </p:spPr>
      </p:pic>
      <p:sp>
        <p:nvSpPr>
          <p:cNvPr id="70" name="Text 52"/>
          <p:cNvSpPr txBox="1"/>
          <p:nvPr/>
        </p:nvSpPr>
        <p:spPr>
          <a:xfrm>
            <a:off x="841248" y="4608576"/>
            <a:ext cx="30641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arxiv.org/abs/2210.03629</a:t>
            </a:r>
            <a:endParaRPr lang="en-US" sz="800" dirty="0"/>
          </a:p>
        </p:txBody>
      </p:sp>
      <p:sp>
        <p:nvSpPr>
          <p:cNvPr id="71" name="Shape 53"/>
          <p:cNvSpPr/>
          <p:nvPr/>
        </p:nvSpPr>
        <p:spPr>
          <a:xfrm>
            <a:off x="585216" y="4828032"/>
            <a:ext cx="339333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72" name="Text 54"/>
          <p:cNvSpPr txBox="1"/>
          <p:nvPr/>
        </p:nvSpPr>
        <p:spPr>
          <a:xfrm>
            <a:off x="713232" y="4873752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Technical Report</a:t>
            </a:r>
            <a:endParaRPr lang="en-US" sz="1050" dirty="0"/>
          </a:p>
        </p:txBody>
      </p:sp>
      <p:sp>
        <p:nvSpPr>
          <p:cNvPr id="73" name="Text 55"/>
          <p:cNvSpPr txBox="1"/>
          <p:nvPr/>
        </p:nvSpPr>
        <p:spPr>
          <a:xfrm>
            <a:off x="713232" y="5047488"/>
            <a:ext cx="31921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 family · Qwen Team, 2024</a:t>
            </a:r>
            <a:endParaRPr lang="en-US" sz="850" dirty="0"/>
          </a:p>
        </p:txBody>
      </p:sp>
      <p:pic>
        <p:nvPicPr>
          <p:cNvPr id="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3232" y="5202936"/>
            <a:ext cx="82296" cy="82296"/>
          </a:xfrm>
          <a:prstGeom prst="rect">
            <a:avLst/>
          </a:prstGeom>
        </p:spPr>
      </p:pic>
      <p:sp>
        <p:nvSpPr>
          <p:cNvPr id="75" name="Text 56"/>
          <p:cNvSpPr txBox="1"/>
          <p:nvPr/>
        </p:nvSpPr>
        <p:spPr>
          <a:xfrm>
            <a:off x="841248" y="5175504"/>
            <a:ext cx="30641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arxiv.org/abs/2412.15115</a:t>
            </a:r>
            <a:endParaRPr lang="en-US" sz="800" dirty="0"/>
          </a:p>
        </p:txBody>
      </p:sp>
      <p:sp>
        <p:nvSpPr>
          <p:cNvPr id="76" name="Shape 57"/>
          <p:cNvSpPr/>
          <p:nvPr/>
        </p:nvSpPr>
        <p:spPr>
          <a:xfrm>
            <a:off x="585216" y="5394960"/>
            <a:ext cx="3393338" cy="237744"/>
          </a:xfrm>
          <a:prstGeom prst="roundRect">
            <a:avLst>
              <a:gd name="adj" fmla="val 19231"/>
            </a:avLst>
          </a:prstGeom>
          <a:solidFill>
            <a:srgbClr val="E3F3F1"/>
          </a:solidFill>
          <a:ln/>
        </p:spPr>
      </p:sp>
      <p:pic>
        <p:nvPicPr>
          <p:cNvPr id="7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6656" y="5463540"/>
            <a:ext cx="100584" cy="100584"/>
          </a:xfrm>
          <a:prstGeom prst="rect">
            <a:avLst/>
          </a:prstGeom>
        </p:spPr>
      </p:pic>
      <p:sp>
        <p:nvSpPr>
          <p:cNvPr id="78" name="Text 58"/>
          <p:cNvSpPr txBox="1"/>
          <p:nvPr/>
        </p:nvSpPr>
        <p:spPr>
          <a:xfrm>
            <a:off x="841248" y="5394960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Drishti: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tool-using specialist agents</a:t>
            </a:r>
            <a:endParaRPr lang="en-US" sz="900" dirty="0"/>
          </a:p>
        </p:txBody>
      </p:sp>
      <p:sp>
        <p:nvSpPr>
          <p:cNvPr id="79" name="Shape 59"/>
          <p:cNvSpPr/>
          <p:nvPr/>
        </p:nvSpPr>
        <p:spPr>
          <a:xfrm>
            <a:off x="4271162" y="3767328"/>
            <a:ext cx="3649370" cy="1956816"/>
          </a:xfrm>
          <a:prstGeom prst="roundRect">
            <a:avLst>
              <a:gd name="adj" fmla="val 4673"/>
            </a:avLst>
          </a:prstGeom>
          <a:solidFill>
            <a:srgbClr val="F3F5F8"/>
          </a:solidFill>
          <a:ln/>
        </p:spPr>
      </p:sp>
      <p:sp>
        <p:nvSpPr>
          <p:cNvPr id="80" name="Shape 60"/>
          <p:cNvSpPr/>
          <p:nvPr/>
        </p:nvSpPr>
        <p:spPr>
          <a:xfrm>
            <a:off x="4417466" y="3895344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1" name="Text 61"/>
          <p:cNvSpPr txBox="1"/>
          <p:nvPr/>
        </p:nvSpPr>
        <p:spPr>
          <a:xfrm>
            <a:off x="4417466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2" name="Text 62"/>
          <p:cNvSpPr txBox="1"/>
          <p:nvPr/>
        </p:nvSpPr>
        <p:spPr>
          <a:xfrm>
            <a:off x="4801514" y="3895344"/>
            <a:ext cx="26435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Vision &amp; Serving</a:t>
            </a:r>
            <a:endParaRPr lang="en-US" sz="1300" dirty="0"/>
          </a:p>
        </p:txBody>
      </p:sp>
      <p:pic>
        <p:nvPicPr>
          <p:cNvPr id="8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36485" y="3941064"/>
            <a:ext cx="201168" cy="201168"/>
          </a:xfrm>
          <a:prstGeom prst="rect">
            <a:avLst/>
          </a:prstGeom>
        </p:spPr>
      </p:pic>
      <p:sp>
        <p:nvSpPr>
          <p:cNvPr id="84" name="Shape 63"/>
          <p:cNvSpPr/>
          <p:nvPr/>
        </p:nvSpPr>
        <p:spPr>
          <a:xfrm>
            <a:off x="4399178" y="4261104"/>
            <a:ext cx="339333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85" name="Text 64"/>
          <p:cNvSpPr txBox="1"/>
          <p:nvPr/>
        </p:nvSpPr>
        <p:spPr>
          <a:xfrm>
            <a:off x="4527194" y="4306824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 Technical Report</a:t>
            </a:r>
            <a:endParaRPr lang="en-US" sz="1050" dirty="0"/>
          </a:p>
        </p:txBody>
      </p:sp>
      <p:sp>
        <p:nvSpPr>
          <p:cNvPr id="86" name="Text 65"/>
          <p:cNvSpPr txBox="1"/>
          <p:nvPr/>
        </p:nvSpPr>
        <p:spPr>
          <a:xfrm>
            <a:off x="4527194" y="4480560"/>
            <a:ext cx="31921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document understanding · 2025</a:t>
            </a:r>
            <a:endParaRPr lang="en-US" sz="850" dirty="0"/>
          </a:p>
        </p:txBody>
      </p:sp>
      <p:pic>
        <p:nvPicPr>
          <p:cNvPr id="8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27194" y="4636008"/>
            <a:ext cx="82296" cy="82296"/>
          </a:xfrm>
          <a:prstGeom prst="rect">
            <a:avLst/>
          </a:prstGeom>
        </p:spPr>
      </p:pic>
      <p:sp>
        <p:nvSpPr>
          <p:cNvPr id="88" name="Text 66"/>
          <p:cNvSpPr txBox="1"/>
          <p:nvPr/>
        </p:nvSpPr>
        <p:spPr>
          <a:xfrm>
            <a:off x="4655210" y="4608576"/>
            <a:ext cx="30641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arxiv.org/abs/2502.13923</a:t>
            </a:r>
            <a:endParaRPr lang="en-US" sz="800" dirty="0"/>
          </a:p>
        </p:txBody>
      </p:sp>
      <p:sp>
        <p:nvSpPr>
          <p:cNvPr id="89" name="Shape 67"/>
          <p:cNvSpPr/>
          <p:nvPr/>
        </p:nvSpPr>
        <p:spPr>
          <a:xfrm>
            <a:off x="4399178" y="4828032"/>
            <a:ext cx="339333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90" name="Text 68"/>
          <p:cNvSpPr txBox="1"/>
          <p:nvPr/>
        </p:nvSpPr>
        <p:spPr>
          <a:xfrm>
            <a:off x="4527194" y="4873752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— vLLM</a:t>
            </a:r>
            <a:endParaRPr lang="en-US" sz="1050" dirty="0"/>
          </a:p>
        </p:txBody>
      </p:sp>
      <p:sp>
        <p:nvSpPr>
          <p:cNvPr id="91" name="Text 69"/>
          <p:cNvSpPr txBox="1"/>
          <p:nvPr/>
        </p:nvSpPr>
        <p:spPr>
          <a:xfrm>
            <a:off x="4527194" y="5047488"/>
            <a:ext cx="31921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 LLM serving · SOSP 2023</a:t>
            </a:r>
            <a:endParaRPr lang="en-US" sz="850" dirty="0"/>
          </a:p>
        </p:txBody>
      </p:sp>
      <p:pic>
        <p:nvPicPr>
          <p:cNvPr id="9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27194" y="5202936"/>
            <a:ext cx="82296" cy="82296"/>
          </a:xfrm>
          <a:prstGeom prst="rect">
            <a:avLst/>
          </a:prstGeom>
        </p:spPr>
      </p:pic>
      <p:sp>
        <p:nvSpPr>
          <p:cNvPr id="93" name="Text 70"/>
          <p:cNvSpPr txBox="1"/>
          <p:nvPr/>
        </p:nvSpPr>
        <p:spPr>
          <a:xfrm>
            <a:off x="4655210" y="5175504"/>
            <a:ext cx="30641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arxiv.org/abs/2309.06180</a:t>
            </a:r>
            <a:endParaRPr lang="en-US" sz="800" dirty="0"/>
          </a:p>
        </p:txBody>
      </p:sp>
      <p:sp>
        <p:nvSpPr>
          <p:cNvPr id="94" name="Shape 71"/>
          <p:cNvSpPr/>
          <p:nvPr/>
        </p:nvSpPr>
        <p:spPr>
          <a:xfrm>
            <a:off x="4399178" y="5394960"/>
            <a:ext cx="3393338" cy="237744"/>
          </a:xfrm>
          <a:prstGeom prst="roundRect">
            <a:avLst>
              <a:gd name="adj" fmla="val 19231"/>
            </a:avLst>
          </a:prstGeom>
          <a:solidFill>
            <a:srgbClr val="E3F3F1"/>
          </a:solidFill>
          <a:ln/>
        </p:spPr>
      </p:sp>
      <p:pic>
        <p:nvPicPr>
          <p:cNvPr id="9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90618" y="5463540"/>
            <a:ext cx="100584" cy="100584"/>
          </a:xfrm>
          <a:prstGeom prst="rect">
            <a:avLst/>
          </a:prstGeom>
        </p:spPr>
      </p:pic>
      <p:sp>
        <p:nvSpPr>
          <p:cNvPr id="96" name="Text 72"/>
          <p:cNvSpPr txBox="1"/>
          <p:nvPr/>
        </p:nvSpPr>
        <p:spPr>
          <a:xfrm>
            <a:off x="4655210" y="5394960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Drishti: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reading · GPU-server scale-up path</a:t>
            </a:r>
            <a:endParaRPr lang="en-US" sz="900" dirty="0"/>
          </a:p>
        </p:txBody>
      </p:sp>
      <p:sp>
        <p:nvSpPr>
          <p:cNvPr id="97" name="Shape 73"/>
          <p:cNvSpPr/>
          <p:nvPr/>
        </p:nvSpPr>
        <p:spPr>
          <a:xfrm>
            <a:off x="8085125" y="3767328"/>
            <a:ext cx="3649370" cy="1956816"/>
          </a:xfrm>
          <a:prstGeom prst="roundRect">
            <a:avLst>
              <a:gd name="adj" fmla="val 4673"/>
            </a:avLst>
          </a:prstGeom>
          <a:solidFill>
            <a:srgbClr val="F3F5F8"/>
          </a:solidFill>
          <a:ln/>
        </p:spPr>
      </p:sp>
      <p:sp>
        <p:nvSpPr>
          <p:cNvPr id="98" name="Shape 74"/>
          <p:cNvSpPr/>
          <p:nvPr/>
        </p:nvSpPr>
        <p:spPr>
          <a:xfrm>
            <a:off x="8231429" y="3895344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9" name="Text 75"/>
          <p:cNvSpPr txBox="1"/>
          <p:nvPr/>
        </p:nvSpPr>
        <p:spPr>
          <a:xfrm>
            <a:off x="8231429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00" name="Text 76"/>
          <p:cNvSpPr txBox="1"/>
          <p:nvPr/>
        </p:nvSpPr>
        <p:spPr>
          <a:xfrm>
            <a:off x="8615477" y="3895344"/>
            <a:ext cx="26435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Execution &amp; Integrity</a:t>
            </a:r>
            <a:endParaRPr lang="en-US" sz="1300" dirty="0"/>
          </a:p>
        </p:txBody>
      </p:sp>
      <p:pic>
        <p:nvPicPr>
          <p:cNvPr id="10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350447" y="3941064"/>
            <a:ext cx="201168" cy="201168"/>
          </a:xfrm>
          <a:prstGeom prst="rect">
            <a:avLst/>
          </a:prstGeom>
        </p:spPr>
      </p:pic>
      <p:sp>
        <p:nvSpPr>
          <p:cNvPr id="102" name="Shape 77"/>
          <p:cNvSpPr/>
          <p:nvPr/>
        </p:nvSpPr>
        <p:spPr>
          <a:xfrm>
            <a:off x="8213141" y="4261104"/>
            <a:ext cx="339333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103" name="Text 78"/>
          <p:cNvSpPr txBox="1"/>
          <p:nvPr/>
        </p:nvSpPr>
        <p:spPr>
          <a:xfrm>
            <a:off x="8341157" y="4306824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800-190</a:t>
            </a:r>
            <a:endParaRPr lang="en-US" sz="1050" dirty="0"/>
          </a:p>
        </p:txBody>
      </p:sp>
      <p:sp>
        <p:nvSpPr>
          <p:cNvPr id="104" name="Text 79"/>
          <p:cNvSpPr txBox="1"/>
          <p:nvPr/>
        </p:nvSpPr>
        <p:spPr>
          <a:xfrm>
            <a:off x="8341157" y="4480560"/>
            <a:ext cx="31921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Container Security Guide · NIST, 2017</a:t>
            </a:r>
            <a:endParaRPr lang="en-US" sz="850" dirty="0"/>
          </a:p>
        </p:txBody>
      </p:sp>
      <p:pic>
        <p:nvPicPr>
          <p:cNvPr id="10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41157" y="4636008"/>
            <a:ext cx="82296" cy="82296"/>
          </a:xfrm>
          <a:prstGeom prst="rect">
            <a:avLst/>
          </a:prstGeom>
        </p:spPr>
      </p:pic>
      <p:sp>
        <p:nvSpPr>
          <p:cNvPr id="106" name="Text 80"/>
          <p:cNvSpPr txBox="1"/>
          <p:nvPr/>
        </p:nvSpPr>
        <p:spPr>
          <a:xfrm>
            <a:off x="8469173" y="4608576"/>
            <a:ext cx="30641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doi.org/10.6028/NIST.SP.800-190</a:t>
            </a:r>
            <a:endParaRPr lang="en-US" sz="800" dirty="0"/>
          </a:p>
        </p:txBody>
      </p:sp>
      <p:sp>
        <p:nvSpPr>
          <p:cNvPr id="107" name="Shape 81"/>
          <p:cNvSpPr/>
          <p:nvPr/>
        </p:nvSpPr>
        <p:spPr>
          <a:xfrm>
            <a:off x="8213141" y="4828032"/>
            <a:ext cx="339333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108" name="Text 82"/>
          <p:cNvSpPr txBox="1"/>
          <p:nvPr/>
        </p:nvSpPr>
        <p:spPr>
          <a:xfrm>
            <a:off x="8341157" y="4873752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Schneier &amp; Kelsey — Secure Audit Logs</a:t>
            </a:r>
            <a:endParaRPr lang="en-US" sz="1050" dirty="0"/>
          </a:p>
        </p:txBody>
      </p:sp>
      <p:sp>
        <p:nvSpPr>
          <p:cNvPr id="109" name="Text 83"/>
          <p:cNvSpPr txBox="1"/>
          <p:nvPr/>
        </p:nvSpPr>
        <p:spPr>
          <a:xfrm>
            <a:off x="8341157" y="5047488"/>
            <a:ext cx="31921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logging · ACM TISSEC, 1999</a:t>
            </a:r>
            <a:endParaRPr lang="en-US" sz="850" dirty="0"/>
          </a:p>
        </p:txBody>
      </p:sp>
      <p:pic>
        <p:nvPicPr>
          <p:cNvPr id="11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41157" y="5202936"/>
            <a:ext cx="82296" cy="82296"/>
          </a:xfrm>
          <a:prstGeom prst="rect">
            <a:avLst/>
          </a:prstGeom>
        </p:spPr>
      </p:pic>
      <p:sp>
        <p:nvSpPr>
          <p:cNvPr id="111" name="Text 84"/>
          <p:cNvSpPr txBox="1"/>
          <p:nvPr/>
        </p:nvSpPr>
        <p:spPr>
          <a:xfrm>
            <a:off x="8469173" y="5175504"/>
            <a:ext cx="30641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doi.org/10.1145/317087.317089</a:t>
            </a:r>
            <a:endParaRPr lang="en-US" sz="800" dirty="0"/>
          </a:p>
        </p:txBody>
      </p:sp>
      <p:sp>
        <p:nvSpPr>
          <p:cNvPr id="112" name="Shape 85"/>
          <p:cNvSpPr/>
          <p:nvPr/>
        </p:nvSpPr>
        <p:spPr>
          <a:xfrm>
            <a:off x="8213141" y="5394960"/>
            <a:ext cx="3393338" cy="237744"/>
          </a:xfrm>
          <a:prstGeom prst="roundRect">
            <a:avLst>
              <a:gd name="adj" fmla="val 19231"/>
            </a:avLst>
          </a:prstGeom>
          <a:solidFill>
            <a:srgbClr val="E3F3F1"/>
          </a:solidFill>
          <a:ln/>
        </p:spPr>
      </p:sp>
      <p:pic>
        <p:nvPicPr>
          <p:cNvPr id="11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4581" y="5463540"/>
            <a:ext cx="100584" cy="100584"/>
          </a:xfrm>
          <a:prstGeom prst="rect">
            <a:avLst/>
          </a:prstGeom>
        </p:spPr>
      </p:pic>
      <p:sp>
        <p:nvSpPr>
          <p:cNvPr id="114" name="Text 86"/>
          <p:cNvSpPr txBox="1"/>
          <p:nvPr/>
        </p:nvSpPr>
        <p:spPr>
          <a:xfrm>
            <a:off x="8469173" y="5394960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Drishti: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No-network sandbox · hash-chained audit</a:t>
            </a:r>
            <a:endParaRPr lang="en-US" sz="900" dirty="0"/>
          </a:p>
        </p:txBody>
      </p:sp>
      <p:sp>
        <p:nvSpPr>
          <p:cNvPr id="115" name="Shape 87"/>
          <p:cNvSpPr/>
          <p:nvPr/>
        </p:nvSpPr>
        <p:spPr>
          <a:xfrm>
            <a:off x="457200" y="585216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</p:sp>
      <p:pic>
        <p:nvPicPr>
          <p:cNvPr id="11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5800" y="6025896"/>
            <a:ext cx="219456" cy="219456"/>
          </a:xfrm>
          <a:prstGeom prst="rect">
            <a:avLst/>
          </a:prstGeom>
        </p:spPr>
      </p:pic>
      <p:sp>
        <p:nvSpPr>
          <p:cNvPr id="117" name="Text 88"/>
          <p:cNvSpPr txBox="1"/>
          <p:nvPr/>
        </p:nvSpPr>
        <p:spPr>
          <a:xfrm>
            <a:off x="1005840" y="5852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DOMAIN STANDARDS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in our knowledge graph</a:t>
            </a:r>
            <a:endParaRPr lang="en-US" sz="1000" dirty="0"/>
          </a:p>
        </p:txBody>
      </p:sp>
      <p:sp>
        <p:nvSpPr>
          <p:cNvPr id="118" name="Shape 89"/>
          <p:cNvSpPr/>
          <p:nvPr/>
        </p:nvSpPr>
        <p:spPr>
          <a:xfrm>
            <a:off x="3429000" y="5980176"/>
            <a:ext cx="1514795" cy="310896"/>
          </a:xfrm>
          <a:prstGeom prst="roundRect">
            <a:avLst>
              <a:gd name="adj" fmla="val 50000"/>
            </a:avLst>
          </a:prstGeom>
          <a:solidFill>
            <a:srgbClr val="17345C"/>
          </a:solidFill>
          <a:ln w="9525">
            <a:solidFill>
              <a:srgbClr val="2B4A73"/>
            </a:solidFill>
            <a:prstDash val="solid"/>
          </a:ln>
        </p:spPr>
      </p:sp>
      <p:sp>
        <p:nvSpPr>
          <p:cNvPr id="119" name="Text 90"/>
          <p:cNvSpPr txBox="1"/>
          <p:nvPr/>
        </p:nvSpPr>
        <p:spPr>
          <a:xfrm>
            <a:off x="3429000" y="5980176"/>
            <a:ext cx="15147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510</a:t>
            </a:r>
            <a:endParaRPr lang="en-US" sz="1050" dirty="0"/>
          </a:p>
        </p:txBody>
      </p:sp>
      <p:sp>
        <p:nvSpPr>
          <p:cNvPr id="120" name="Shape 91"/>
          <p:cNvSpPr/>
          <p:nvPr/>
        </p:nvSpPr>
        <p:spPr>
          <a:xfrm>
            <a:off x="5080955" y="5980176"/>
            <a:ext cx="1514795" cy="310896"/>
          </a:xfrm>
          <a:prstGeom prst="roundRect">
            <a:avLst>
              <a:gd name="adj" fmla="val 50000"/>
            </a:avLst>
          </a:prstGeom>
          <a:solidFill>
            <a:srgbClr val="17345C"/>
          </a:solidFill>
          <a:ln w="9525">
            <a:solidFill>
              <a:srgbClr val="2B4A73"/>
            </a:solidFill>
            <a:prstDash val="solid"/>
          </a:ln>
        </p:spPr>
      </p:sp>
      <p:sp>
        <p:nvSpPr>
          <p:cNvPr id="121" name="Text 92"/>
          <p:cNvSpPr txBox="1"/>
          <p:nvPr/>
        </p:nvSpPr>
        <p:spPr>
          <a:xfrm>
            <a:off x="5080955" y="5980176"/>
            <a:ext cx="15147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ASME BPVC Sec. VIII</a:t>
            </a:r>
            <a:endParaRPr lang="en-US" sz="1050" dirty="0"/>
          </a:p>
        </p:txBody>
      </p:sp>
      <p:sp>
        <p:nvSpPr>
          <p:cNvPr id="122" name="Shape 93"/>
          <p:cNvSpPr/>
          <p:nvPr/>
        </p:nvSpPr>
        <p:spPr>
          <a:xfrm>
            <a:off x="6732910" y="5980176"/>
            <a:ext cx="1514795" cy="310896"/>
          </a:xfrm>
          <a:prstGeom prst="roundRect">
            <a:avLst>
              <a:gd name="adj" fmla="val 50000"/>
            </a:avLst>
          </a:prstGeom>
          <a:solidFill>
            <a:srgbClr val="17345C"/>
          </a:solidFill>
          <a:ln w="9525">
            <a:solidFill>
              <a:srgbClr val="2B4A73"/>
            </a:solidFill>
            <a:prstDash val="solid"/>
          </a:ln>
        </p:spPr>
      </p:sp>
      <p:sp>
        <p:nvSpPr>
          <p:cNvPr id="123" name="Text 94"/>
          <p:cNvSpPr txBox="1"/>
          <p:nvPr/>
        </p:nvSpPr>
        <p:spPr>
          <a:xfrm>
            <a:off x="6732910" y="5980176"/>
            <a:ext cx="15147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521</a:t>
            </a:r>
            <a:endParaRPr lang="en-US" sz="1050" dirty="0"/>
          </a:p>
        </p:txBody>
      </p:sp>
      <p:sp>
        <p:nvSpPr>
          <p:cNvPr id="124" name="Shape 95"/>
          <p:cNvSpPr/>
          <p:nvPr/>
        </p:nvSpPr>
        <p:spPr>
          <a:xfrm>
            <a:off x="8384865" y="5980176"/>
            <a:ext cx="1514795" cy="310896"/>
          </a:xfrm>
          <a:prstGeom prst="roundRect">
            <a:avLst>
              <a:gd name="adj" fmla="val 50000"/>
            </a:avLst>
          </a:prstGeom>
          <a:solidFill>
            <a:srgbClr val="17345C"/>
          </a:solidFill>
          <a:ln w="9525">
            <a:solidFill>
              <a:srgbClr val="2B4A73"/>
            </a:solidFill>
            <a:prstDash val="solid"/>
          </a:ln>
        </p:spPr>
      </p:sp>
      <p:sp>
        <p:nvSpPr>
          <p:cNvPr id="125" name="Text 96"/>
          <p:cNvSpPr txBox="1"/>
          <p:nvPr/>
        </p:nvSpPr>
        <p:spPr>
          <a:xfrm>
            <a:off x="8384865" y="5980176"/>
            <a:ext cx="15147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1910.146</a:t>
            </a:r>
            <a:endParaRPr lang="en-US" sz="1050" dirty="0"/>
          </a:p>
        </p:txBody>
      </p:sp>
      <p:sp>
        <p:nvSpPr>
          <p:cNvPr id="126" name="Shape 97"/>
          <p:cNvSpPr/>
          <p:nvPr/>
        </p:nvSpPr>
        <p:spPr>
          <a:xfrm>
            <a:off x="10036820" y="5980176"/>
            <a:ext cx="1514795" cy="310896"/>
          </a:xfrm>
          <a:prstGeom prst="roundRect">
            <a:avLst>
              <a:gd name="adj" fmla="val 50000"/>
            </a:avLst>
          </a:prstGeom>
          <a:solidFill>
            <a:srgbClr val="17345C"/>
          </a:solidFill>
          <a:ln w="9525">
            <a:solidFill>
              <a:srgbClr val="2B4A73"/>
            </a:solidFill>
            <a:prstDash val="solid"/>
          </a:ln>
        </p:spPr>
      </p:sp>
      <p:sp>
        <p:nvSpPr>
          <p:cNvPr id="127" name="Text 98"/>
          <p:cNvSpPr txBox="1"/>
          <p:nvPr/>
        </p:nvSpPr>
        <p:spPr>
          <a:xfrm>
            <a:off x="10036820" y="5980176"/>
            <a:ext cx="15147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10816-3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 — Research &amp; References</dc:title>
  <dc:subject>PptxGenJS Presentation</dc:subject>
  <dc:creator>PptxGenJS</dc:creator>
  <cp:lastModifiedBy>PptxGenJS</cp:lastModifiedBy>
  <cp:revision>1</cp:revision>
  <dcterms:created xsi:type="dcterms:W3CDTF">2026-09-16T05:14:18Z</dcterms:created>
  <dcterms:modified xsi:type="dcterms:W3CDTF">2026-09-16T05:14:18Z</dcterms:modified>
</cp:coreProperties>
</file>