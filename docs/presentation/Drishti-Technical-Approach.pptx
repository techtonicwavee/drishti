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(left to right, about 60 seconds):
1 INPUT — Engineers bring plant documents, scanned inspection sheets and P&amp;IDs, or just ask a question. Drishti also remembers the conversation and the user's role.
2 UNDERSTAND — Scans are cleaned with OpenCV before a vision model reads them. Documents are chunked and embedded locally with nomic-embed-text into an embedded ChromaDB store. A curated plant knowledge graph links each equipment tag to its governing SOP, revision history and standard.
3 ORCHESTRATE — A rule-based router picks the right agent instantly and logs why. For complex requests a planner shows the steps live. Four specialist agents — Reasoning, Coder, Vision and Document — run on local Qwen2.5 models and can only use whitelisted tools through one registry.
4 VERIFY — Nothing reaches the engineer unchecked: citations are matched to real sources, weak matches are dropped, code is executed in a sandbox before it is shown, and the compliance sweep flags overdue reviews on its own.
5 DELIVER — Cited answers plus real Office files: an approval note, a summary deck, a calculation sheet — and a full agent trace.
SECURITY BAND — The air gap is proven three independent ways; code runs with no network; the audit log is a SHA-256 hash chain so any edit is detected. Today it runs on Ollama on a laptop; on MRPL's GPU server we switch to vLLM with one config change. Role-based access is the next build item.
LIKELY JUDGE QUESTIONS:
- Why a rule-based router? Speed and explainability — every routing decision has a concrete logged reason.
- Is vLLM tested? Not yet; the client speaks the OpenAI-compatible API that both engines implement.
- How do you stop hallucinated citations? Retrieval is forced on every turn and every document reference is checked against retrieved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 ·  SIH26117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data in, verified deliverables out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vector and log stays on MRPL hardware.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75488"/>
            <a:ext cx="1901952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01752"/>
            <a:ext cx="1947672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645920"/>
            <a:ext cx="1645920" cy="32004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/>
        </p:spPr>
      </p:sp>
      <p:sp>
        <p:nvSpPr>
          <p:cNvPr id="8" name="Shape 4"/>
          <p:cNvSpPr/>
          <p:nvPr/>
        </p:nvSpPr>
        <p:spPr>
          <a:xfrm>
            <a:off x="603504" y="1773936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69264" y="1773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" y="223113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0428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212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documents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87552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manuals, reports · PDF, TXT, MD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3504" y="2866644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939796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7552" y="28483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87552" y="30495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scans, P&amp;IDs · image / PDF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03504" y="350215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75304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87552" y="3483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queries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987552" y="36850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language, with follow-ups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603504" y="413766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210812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87552" y="41193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987552" y="43205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threads + user memory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2377440" y="1645920"/>
            <a:ext cx="1965960" cy="3200400"/>
          </a:xfrm>
          <a:prstGeom prst="roundRect">
            <a:avLst>
              <a:gd name="adj" fmla="val 5581"/>
            </a:avLst>
          </a:prstGeom>
          <a:solidFill>
            <a:srgbClr val="F3F5F8"/>
          </a:solidFill>
          <a:ln/>
        </p:spPr>
      </p:sp>
      <p:sp>
        <p:nvSpPr>
          <p:cNvPr id="28" name="Shape 20"/>
          <p:cNvSpPr/>
          <p:nvPr/>
        </p:nvSpPr>
        <p:spPr>
          <a:xfrm>
            <a:off x="2523744" y="1773936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252374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2889504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523744" y="223113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6896" y="2304288"/>
            <a:ext cx="146304" cy="14630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907792" y="22128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pre-processing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2907792" y="24140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denoise, deskew, contrast · PyMuPDF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2523744" y="2866644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6896" y="2939796"/>
            <a:ext cx="146304" cy="14630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907792" y="28483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embed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2907792" y="30495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nomic-embed-text, run locally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2523744" y="350215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896" y="3575304"/>
            <a:ext cx="146304" cy="146304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2907792" y="34838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42" name="Text 31"/>
          <p:cNvSpPr txBox="1"/>
          <p:nvPr/>
        </p:nvSpPr>
        <p:spPr>
          <a:xfrm>
            <a:off x="2907792" y="36850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embedded · telemetry off</a:t>
            </a:r>
            <a:endParaRPr lang="en-US" sz="850" dirty="0"/>
          </a:p>
        </p:txBody>
      </p:sp>
      <p:sp>
        <p:nvSpPr>
          <p:cNvPr id="43" name="Shape 32"/>
          <p:cNvSpPr/>
          <p:nvPr/>
        </p:nvSpPr>
        <p:spPr>
          <a:xfrm>
            <a:off x="2523744" y="413766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6896" y="4210812"/>
            <a:ext cx="146304" cy="14630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2907792" y="41193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46" name="Text 34"/>
          <p:cNvSpPr txBox="1"/>
          <p:nvPr/>
        </p:nvSpPr>
        <p:spPr>
          <a:xfrm>
            <a:off x="2907792" y="43205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→ SOP → Revision → Standard</a:t>
            </a:r>
            <a:endParaRPr lang="en-US" sz="850" dirty="0"/>
          </a:p>
        </p:txBody>
      </p:sp>
      <p:sp>
        <p:nvSpPr>
          <p:cNvPr id="47" name="Shape 35"/>
          <p:cNvSpPr/>
          <p:nvPr/>
        </p:nvSpPr>
        <p:spPr>
          <a:xfrm>
            <a:off x="4617720" y="164592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4764024" y="1773936"/>
            <a:ext cx="274320" cy="274320"/>
          </a:xfrm>
          <a:prstGeom prst="ellipse">
            <a:avLst/>
          </a:prstGeom>
          <a:solidFill>
            <a:srgbClr val="0E8C7F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476402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38"/>
          <p:cNvSpPr txBox="1"/>
          <p:nvPr/>
        </p:nvSpPr>
        <p:spPr>
          <a:xfrm>
            <a:off x="5129784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4764024" y="221284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17345C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752" y="2295144"/>
            <a:ext cx="164592" cy="164592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5129784" y="221284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</a:t>
            </a:r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· every choice logged</a:t>
            </a:r>
            <a:endParaRPr lang="en-US" sz="11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1616" y="2560320"/>
            <a:ext cx="109728" cy="91440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4764024" y="2670048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17345C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3752" y="2752344"/>
            <a:ext cx="164592" cy="164592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5129784" y="267004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 </a:t>
            </a:r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step-by-step plan</a:t>
            </a:r>
            <a:endParaRPr lang="en-US" sz="11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1616" y="3017520"/>
            <a:ext cx="109728" cy="91440"/>
          </a:xfrm>
          <a:prstGeom prst="rect">
            <a:avLst/>
          </a:prstGeom>
        </p:spPr>
      </p:pic>
      <p:sp>
        <p:nvSpPr>
          <p:cNvPr id="59" name="Shape 43"/>
          <p:cNvSpPr/>
          <p:nvPr/>
        </p:nvSpPr>
        <p:spPr>
          <a:xfrm>
            <a:off x="4764024" y="3127248"/>
            <a:ext cx="131673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60" name="Shape 44"/>
          <p:cNvSpPr/>
          <p:nvPr/>
        </p:nvSpPr>
        <p:spPr>
          <a:xfrm>
            <a:off x="4837176" y="3236976"/>
            <a:ext cx="256032" cy="25603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01184" y="3300984"/>
            <a:ext cx="128016" cy="128016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5166360" y="31912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63" name="Text 46"/>
          <p:cNvSpPr txBox="1"/>
          <p:nvPr/>
        </p:nvSpPr>
        <p:spPr>
          <a:xfrm>
            <a:off x="5166360" y="338328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850" dirty="0"/>
          </a:p>
        </p:txBody>
      </p:sp>
      <p:sp>
        <p:nvSpPr>
          <p:cNvPr id="64" name="Shape 47"/>
          <p:cNvSpPr/>
          <p:nvPr/>
        </p:nvSpPr>
        <p:spPr>
          <a:xfrm>
            <a:off x="6172200" y="3127248"/>
            <a:ext cx="131673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65" name="Shape 48"/>
          <p:cNvSpPr/>
          <p:nvPr/>
        </p:nvSpPr>
        <p:spPr>
          <a:xfrm>
            <a:off x="6245352" y="3236976"/>
            <a:ext cx="256032" cy="25603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9360" y="3300984"/>
            <a:ext cx="128016" cy="128016"/>
          </a:xfrm>
          <a:prstGeom prst="rect">
            <a:avLst/>
          </a:prstGeom>
        </p:spPr>
      </p:pic>
      <p:sp>
        <p:nvSpPr>
          <p:cNvPr id="67" name="Text 49"/>
          <p:cNvSpPr txBox="1"/>
          <p:nvPr/>
        </p:nvSpPr>
        <p:spPr>
          <a:xfrm>
            <a:off x="6574536" y="319125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050" dirty="0"/>
          </a:p>
        </p:txBody>
      </p:sp>
      <p:sp>
        <p:nvSpPr>
          <p:cNvPr id="68" name="Text 50"/>
          <p:cNvSpPr txBox="1"/>
          <p:nvPr/>
        </p:nvSpPr>
        <p:spPr>
          <a:xfrm>
            <a:off x="6574536" y="338328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69" name="Shape 51"/>
          <p:cNvSpPr/>
          <p:nvPr/>
        </p:nvSpPr>
        <p:spPr>
          <a:xfrm>
            <a:off x="4764024" y="3675888"/>
            <a:ext cx="131673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70" name="Shape 52"/>
          <p:cNvSpPr/>
          <p:nvPr/>
        </p:nvSpPr>
        <p:spPr>
          <a:xfrm>
            <a:off x="4837176" y="3785616"/>
            <a:ext cx="256032" cy="25603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1184" y="3849624"/>
            <a:ext cx="128016" cy="128016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5166360" y="37398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73" name="Text 54"/>
          <p:cNvSpPr txBox="1"/>
          <p:nvPr/>
        </p:nvSpPr>
        <p:spPr>
          <a:xfrm>
            <a:off x="5166360" y="393192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qwen2.5vl:7b</a:t>
            </a:r>
            <a:endParaRPr lang="en-US" sz="850" dirty="0"/>
          </a:p>
        </p:txBody>
      </p:sp>
      <p:sp>
        <p:nvSpPr>
          <p:cNvPr id="74" name="Shape 55"/>
          <p:cNvSpPr/>
          <p:nvPr/>
        </p:nvSpPr>
        <p:spPr>
          <a:xfrm>
            <a:off x="6172200" y="3675888"/>
            <a:ext cx="131673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75" name="Shape 56"/>
          <p:cNvSpPr/>
          <p:nvPr/>
        </p:nvSpPr>
        <p:spPr>
          <a:xfrm>
            <a:off x="6245352" y="3785616"/>
            <a:ext cx="256032" cy="25603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9360" y="3849624"/>
            <a:ext cx="128016" cy="128016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6574536" y="37398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78" name="Text 58"/>
          <p:cNvSpPr txBox="1"/>
          <p:nvPr/>
        </p:nvSpPr>
        <p:spPr>
          <a:xfrm>
            <a:off x="6574536" y="393192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850" dirty="0"/>
          </a:p>
        </p:txBody>
      </p:sp>
      <p:sp>
        <p:nvSpPr>
          <p:cNvPr id="79" name="Shape 59"/>
          <p:cNvSpPr/>
          <p:nvPr/>
        </p:nvSpPr>
        <p:spPr>
          <a:xfrm>
            <a:off x="4764024" y="4224528"/>
            <a:ext cx="2724912" cy="402336"/>
          </a:xfrm>
          <a:prstGeom prst="roundRect">
            <a:avLst>
              <a:gd name="adj" fmla="val 13636"/>
            </a:avLst>
          </a:prstGeom>
          <a:solidFill>
            <a:srgbClr val="17345C"/>
          </a:solidFill>
          <a:ln/>
        </p:spPr>
      </p:sp>
      <p:pic>
        <p:nvPicPr>
          <p:cNvPr id="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73752" y="4343400"/>
            <a:ext cx="164592" cy="164592"/>
          </a:xfrm>
          <a:prstGeom prst="rect">
            <a:avLst/>
          </a:prstGeom>
        </p:spPr>
      </p:pic>
      <p:sp>
        <p:nvSpPr>
          <p:cNvPr id="81" name="Text 60"/>
          <p:cNvSpPr txBox="1"/>
          <p:nvPr/>
        </p:nvSpPr>
        <p:spPr>
          <a:xfrm>
            <a:off x="5129784" y="422452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 </a:t>
            </a:r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tools · delegation</a:t>
            </a:r>
            <a:endParaRPr lang="en-US" sz="1100" dirty="0"/>
          </a:p>
        </p:txBody>
      </p:sp>
      <p:sp>
        <p:nvSpPr>
          <p:cNvPr id="82" name="Shape 61"/>
          <p:cNvSpPr/>
          <p:nvPr/>
        </p:nvSpPr>
        <p:spPr>
          <a:xfrm>
            <a:off x="7909560" y="164592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/>
        </p:spPr>
      </p:sp>
      <p:sp>
        <p:nvSpPr>
          <p:cNvPr id="83" name="Shape 62"/>
          <p:cNvSpPr/>
          <p:nvPr/>
        </p:nvSpPr>
        <p:spPr>
          <a:xfrm>
            <a:off x="8055864" y="1773936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4" name="Text 63"/>
          <p:cNvSpPr txBox="1"/>
          <p:nvPr/>
        </p:nvSpPr>
        <p:spPr>
          <a:xfrm>
            <a:off x="805586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5" name="Text 64"/>
          <p:cNvSpPr txBox="1"/>
          <p:nvPr/>
        </p:nvSpPr>
        <p:spPr>
          <a:xfrm>
            <a:off x="8421624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86" name="Shape 65"/>
          <p:cNvSpPr/>
          <p:nvPr/>
        </p:nvSpPr>
        <p:spPr>
          <a:xfrm>
            <a:off x="8055864" y="223113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8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9016" y="2304288"/>
            <a:ext cx="146304" cy="146304"/>
          </a:xfrm>
          <a:prstGeom prst="rect">
            <a:avLst/>
          </a:prstGeom>
        </p:spPr>
      </p:pic>
      <p:sp>
        <p:nvSpPr>
          <p:cNvPr id="88" name="Text 66"/>
          <p:cNvSpPr txBox="1"/>
          <p:nvPr/>
        </p:nvSpPr>
        <p:spPr>
          <a:xfrm>
            <a:off x="8439912" y="22128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</a:t>
            </a:r>
            <a:endParaRPr lang="en-US" sz="1100" dirty="0"/>
          </a:p>
        </p:txBody>
      </p:sp>
      <p:sp>
        <p:nvSpPr>
          <p:cNvPr id="89" name="Text 67"/>
          <p:cNvSpPr txBox="1"/>
          <p:nvPr/>
        </p:nvSpPr>
        <p:spPr>
          <a:xfrm>
            <a:off x="8439912" y="2414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matched to a real source</a:t>
            </a:r>
            <a:endParaRPr lang="en-US" sz="850" dirty="0"/>
          </a:p>
        </p:txBody>
      </p:sp>
      <p:sp>
        <p:nvSpPr>
          <p:cNvPr id="90" name="Shape 68"/>
          <p:cNvSpPr/>
          <p:nvPr/>
        </p:nvSpPr>
        <p:spPr>
          <a:xfrm>
            <a:off x="8055864" y="2866644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9016" y="2939796"/>
            <a:ext cx="146304" cy="146304"/>
          </a:xfrm>
          <a:prstGeom prst="rect">
            <a:avLst/>
          </a:prstGeom>
        </p:spPr>
      </p:pic>
      <p:sp>
        <p:nvSpPr>
          <p:cNvPr id="92" name="Text 69"/>
          <p:cNvSpPr txBox="1"/>
          <p:nvPr/>
        </p:nvSpPr>
        <p:spPr>
          <a:xfrm>
            <a:off x="8439912" y="28483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gate</a:t>
            </a:r>
            <a:endParaRPr lang="en-US" sz="1100" dirty="0"/>
          </a:p>
        </p:txBody>
      </p:sp>
      <p:sp>
        <p:nvSpPr>
          <p:cNvPr id="93" name="Text 70"/>
          <p:cNvSpPr txBox="1"/>
          <p:nvPr/>
        </p:nvSpPr>
        <p:spPr>
          <a:xfrm>
            <a:off x="8439912" y="30495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matches dropped, never cited</a:t>
            </a:r>
            <a:endParaRPr lang="en-US" sz="850" dirty="0"/>
          </a:p>
        </p:txBody>
      </p:sp>
      <p:sp>
        <p:nvSpPr>
          <p:cNvPr id="94" name="Shape 71"/>
          <p:cNvSpPr/>
          <p:nvPr/>
        </p:nvSpPr>
        <p:spPr>
          <a:xfrm>
            <a:off x="8055864" y="350215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9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9016" y="3575304"/>
            <a:ext cx="146304" cy="146304"/>
          </a:xfrm>
          <a:prstGeom prst="rect">
            <a:avLst/>
          </a:prstGeom>
        </p:spPr>
      </p:pic>
      <p:sp>
        <p:nvSpPr>
          <p:cNvPr id="96" name="Text 72"/>
          <p:cNvSpPr txBox="1"/>
          <p:nvPr/>
        </p:nvSpPr>
        <p:spPr>
          <a:xfrm>
            <a:off x="8439912" y="3483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first</a:t>
            </a:r>
            <a:endParaRPr lang="en-US" sz="1100" dirty="0"/>
          </a:p>
        </p:txBody>
      </p:sp>
      <p:sp>
        <p:nvSpPr>
          <p:cNvPr id="97" name="Text 73"/>
          <p:cNvSpPr txBox="1"/>
          <p:nvPr/>
        </p:nvSpPr>
        <p:spPr>
          <a:xfrm>
            <a:off x="8439912" y="3685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execution + one self-correction</a:t>
            </a:r>
            <a:endParaRPr lang="en-US" sz="850" dirty="0"/>
          </a:p>
        </p:txBody>
      </p:sp>
      <p:sp>
        <p:nvSpPr>
          <p:cNvPr id="98" name="Shape 74"/>
          <p:cNvSpPr/>
          <p:nvPr/>
        </p:nvSpPr>
        <p:spPr>
          <a:xfrm>
            <a:off x="8055864" y="413766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9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9016" y="4210812"/>
            <a:ext cx="146304" cy="146304"/>
          </a:xfrm>
          <a:prstGeom prst="rect">
            <a:avLst/>
          </a:prstGeom>
        </p:spPr>
      </p:pic>
      <p:sp>
        <p:nvSpPr>
          <p:cNvPr id="100" name="Text 75"/>
          <p:cNvSpPr txBox="1"/>
          <p:nvPr/>
        </p:nvSpPr>
        <p:spPr>
          <a:xfrm>
            <a:off x="8439912" y="41193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sweep</a:t>
            </a:r>
            <a:endParaRPr lang="en-US" sz="1100" dirty="0"/>
          </a:p>
        </p:txBody>
      </p:sp>
      <p:sp>
        <p:nvSpPr>
          <p:cNvPr id="101" name="Text 76"/>
          <p:cNvSpPr txBox="1"/>
          <p:nvPr/>
        </p:nvSpPr>
        <p:spPr>
          <a:xfrm>
            <a:off x="8439912" y="43205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reviews &amp; deadlines flagged</a:t>
            </a:r>
            <a:endParaRPr lang="en-US" sz="850" dirty="0"/>
          </a:p>
        </p:txBody>
      </p:sp>
      <p:sp>
        <p:nvSpPr>
          <p:cNvPr id="102" name="Shape 77"/>
          <p:cNvSpPr/>
          <p:nvPr/>
        </p:nvSpPr>
        <p:spPr>
          <a:xfrm>
            <a:off x="10012680" y="1645920"/>
            <a:ext cx="1721815" cy="3200400"/>
          </a:xfrm>
          <a:prstGeom prst="roundRect">
            <a:avLst>
              <a:gd name="adj" fmla="val 6373"/>
            </a:avLst>
          </a:prstGeom>
          <a:solidFill>
            <a:srgbClr val="F3F5F8"/>
          </a:solidFill>
          <a:ln/>
        </p:spPr>
      </p:sp>
      <p:sp>
        <p:nvSpPr>
          <p:cNvPr id="103" name="Shape 78"/>
          <p:cNvSpPr/>
          <p:nvPr/>
        </p:nvSpPr>
        <p:spPr>
          <a:xfrm>
            <a:off x="10158984" y="1773936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4" name="Text 79"/>
          <p:cNvSpPr txBox="1"/>
          <p:nvPr/>
        </p:nvSpPr>
        <p:spPr>
          <a:xfrm>
            <a:off x="10158984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5" name="Text 80"/>
          <p:cNvSpPr txBox="1"/>
          <p:nvPr/>
        </p:nvSpPr>
        <p:spPr>
          <a:xfrm>
            <a:off x="10524744" y="1773936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106" name="Shape 81"/>
          <p:cNvSpPr/>
          <p:nvPr/>
        </p:nvSpPr>
        <p:spPr>
          <a:xfrm>
            <a:off x="10158984" y="223113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0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32136" y="2304288"/>
            <a:ext cx="146304" cy="146304"/>
          </a:xfrm>
          <a:prstGeom prst="rect">
            <a:avLst/>
          </a:prstGeom>
        </p:spPr>
      </p:pic>
      <p:sp>
        <p:nvSpPr>
          <p:cNvPr id="108" name="Text 82"/>
          <p:cNvSpPr txBox="1"/>
          <p:nvPr/>
        </p:nvSpPr>
        <p:spPr>
          <a:xfrm>
            <a:off x="10543032" y="2212848"/>
            <a:ext cx="1081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100" dirty="0"/>
          </a:p>
        </p:txBody>
      </p:sp>
      <p:sp>
        <p:nvSpPr>
          <p:cNvPr id="109" name="Text 83"/>
          <p:cNvSpPr txBox="1"/>
          <p:nvPr/>
        </p:nvSpPr>
        <p:spPr>
          <a:xfrm>
            <a:off x="10543032" y="2414016"/>
            <a:ext cx="108173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shown</a:t>
            </a:r>
            <a:endParaRPr lang="en-US" sz="850" dirty="0"/>
          </a:p>
        </p:txBody>
      </p:sp>
      <p:sp>
        <p:nvSpPr>
          <p:cNvPr id="110" name="Shape 84"/>
          <p:cNvSpPr/>
          <p:nvPr/>
        </p:nvSpPr>
        <p:spPr>
          <a:xfrm>
            <a:off x="10158984" y="273954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1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32136" y="2812694"/>
            <a:ext cx="146304" cy="146304"/>
          </a:xfrm>
          <a:prstGeom prst="rect">
            <a:avLst/>
          </a:prstGeom>
        </p:spPr>
      </p:pic>
      <p:sp>
        <p:nvSpPr>
          <p:cNvPr id="112" name="Text 85"/>
          <p:cNvSpPr txBox="1"/>
          <p:nvPr/>
        </p:nvSpPr>
        <p:spPr>
          <a:xfrm>
            <a:off x="10543032" y="2721254"/>
            <a:ext cx="1081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note</a:t>
            </a:r>
            <a:endParaRPr lang="en-US" sz="1100" dirty="0"/>
          </a:p>
        </p:txBody>
      </p:sp>
      <p:sp>
        <p:nvSpPr>
          <p:cNvPr id="113" name="Text 86"/>
          <p:cNvSpPr txBox="1"/>
          <p:nvPr/>
        </p:nvSpPr>
        <p:spPr>
          <a:xfrm>
            <a:off x="10543032" y="2922422"/>
            <a:ext cx="108173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.docx, signature block</a:t>
            </a:r>
            <a:endParaRPr lang="en-US" sz="850" dirty="0"/>
          </a:p>
        </p:txBody>
      </p:sp>
      <p:sp>
        <p:nvSpPr>
          <p:cNvPr id="114" name="Shape 87"/>
          <p:cNvSpPr/>
          <p:nvPr/>
        </p:nvSpPr>
        <p:spPr>
          <a:xfrm>
            <a:off x="10158984" y="3247949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1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32136" y="3321101"/>
            <a:ext cx="146304" cy="146304"/>
          </a:xfrm>
          <a:prstGeom prst="rect">
            <a:avLst/>
          </a:prstGeom>
        </p:spPr>
      </p:pic>
      <p:sp>
        <p:nvSpPr>
          <p:cNvPr id="116" name="Text 88"/>
          <p:cNvSpPr txBox="1"/>
          <p:nvPr/>
        </p:nvSpPr>
        <p:spPr>
          <a:xfrm>
            <a:off x="10543032" y="3229661"/>
            <a:ext cx="1081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deck</a:t>
            </a:r>
            <a:endParaRPr lang="en-US" sz="1100" dirty="0"/>
          </a:p>
        </p:txBody>
      </p:sp>
      <p:sp>
        <p:nvSpPr>
          <p:cNvPr id="117" name="Text 89"/>
          <p:cNvSpPr txBox="1"/>
          <p:nvPr/>
        </p:nvSpPr>
        <p:spPr>
          <a:xfrm>
            <a:off x="10543032" y="3430829"/>
            <a:ext cx="108173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850" dirty="0"/>
          </a:p>
        </p:txBody>
      </p:sp>
      <p:sp>
        <p:nvSpPr>
          <p:cNvPr id="118" name="Shape 90"/>
          <p:cNvSpPr/>
          <p:nvPr/>
        </p:nvSpPr>
        <p:spPr>
          <a:xfrm>
            <a:off x="10158984" y="3756355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1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32136" y="3829507"/>
            <a:ext cx="146304" cy="146304"/>
          </a:xfrm>
          <a:prstGeom prst="rect">
            <a:avLst/>
          </a:prstGeom>
        </p:spPr>
      </p:pic>
      <p:sp>
        <p:nvSpPr>
          <p:cNvPr id="120" name="Text 91"/>
          <p:cNvSpPr txBox="1"/>
          <p:nvPr/>
        </p:nvSpPr>
        <p:spPr>
          <a:xfrm>
            <a:off x="10543032" y="3738067"/>
            <a:ext cx="1081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sheet</a:t>
            </a:r>
            <a:endParaRPr lang="en-US" sz="1100" dirty="0"/>
          </a:p>
        </p:txBody>
      </p:sp>
      <p:sp>
        <p:nvSpPr>
          <p:cNvPr id="121" name="Text 92"/>
          <p:cNvSpPr txBox="1"/>
          <p:nvPr/>
        </p:nvSpPr>
        <p:spPr>
          <a:xfrm>
            <a:off x="10543032" y="3939235"/>
            <a:ext cx="108173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.xlsx, step formulas</a:t>
            </a:r>
            <a:endParaRPr lang="en-US" sz="850" dirty="0"/>
          </a:p>
        </p:txBody>
      </p:sp>
      <p:sp>
        <p:nvSpPr>
          <p:cNvPr id="122" name="Shape 93"/>
          <p:cNvSpPr/>
          <p:nvPr/>
        </p:nvSpPr>
        <p:spPr>
          <a:xfrm>
            <a:off x="10158984" y="4264762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</p:spPr>
      </p:sp>
      <p:pic>
        <p:nvPicPr>
          <p:cNvPr id="12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32136" y="4337914"/>
            <a:ext cx="146304" cy="146304"/>
          </a:xfrm>
          <a:prstGeom prst="rect">
            <a:avLst/>
          </a:prstGeom>
        </p:spPr>
      </p:pic>
      <p:sp>
        <p:nvSpPr>
          <p:cNvPr id="124" name="Text 94"/>
          <p:cNvSpPr txBox="1"/>
          <p:nvPr/>
        </p:nvSpPr>
        <p:spPr>
          <a:xfrm>
            <a:off x="10543032" y="4246474"/>
            <a:ext cx="1081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</a:t>
            </a:r>
            <a:endParaRPr lang="en-US" sz="1100" dirty="0"/>
          </a:p>
        </p:txBody>
      </p:sp>
      <p:sp>
        <p:nvSpPr>
          <p:cNvPr id="125" name="Text 95"/>
          <p:cNvSpPr txBox="1"/>
          <p:nvPr/>
        </p:nvSpPr>
        <p:spPr>
          <a:xfrm>
            <a:off x="10543032" y="4447642"/>
            <a:ext cx="108173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steps, latency</a:t>
            </a:r>
            <a:endParaRPr lang="en-US" sz="850" dirty="0"/>
          </a:p>
        </p:txBody>
      </p:sp>
      <p:pic>
        <p:nvPicPr>
          <p:cNvPr id="12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67128" y="3172968"/>
            <a:ext cx="146304" cy="146304"/>
          </a:xfrm>
          <a:prstGeom prst="rect">
            <a:avLst/>
          </a:prstGeom>
        </p:spPr>
      </p:pic>
      <p:pic>
        <p:nvPicPr>
          <p:cNvPr id="12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07408" y="3172968"/>
            <a:ext cx="146304" cy="146304"/>
          </a:xfrm>
          <a:prstGeom prst="rect">
            <a:avLst/>
          </a:prstGeom>
        </p:spPr>
      </p:pic>
      <p:pic>
        <p:nvPicPr>
          <p:cNvPr id="12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99248" y="3172968"/>
            <a:ext cx="146304" cy="146304"/>
          </a:xfrm>
          <a:prstGeom prst="rect">
            <a:avLst/>
          </a:prstGeom>
        </p:spPr>
      </p:pic>
      <p:pic>
        <p:nvPicPr>
          <p:cNvPr id="12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02368" y="3172968"/>
            <a:ext cx="146304" cy="146304"/>
          </a:xfrm>
          <a:prstGeom prst="rect">
            <a:avLst/>
          </a:prstGeom>
        </p:spPr>
      </p:pic>
      <p:sp>
        <p:nvSpPr>
          <p:cNvPr id="130" name="Text 96"/>
          <p:cNvSpPr txBox="1"/>
          <p:nvPr/>
        </p:nvSpPr>
        <p:spPr>
          <a:xfrm>
            <a:off x="457200" y="50292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100" dirty="0"/>
          </a:p>
        </p:txBody>
      </p:sp>
      <p:sp>
        <p:nvSpPr>
          <p:cNvPr id="131" name="Shape 97"/>
          <p:cNvSpPr/>
          <p:nvPr/>
        </p:nvSpPr>
        <p:spPr>
          <a:xfrm>
            <a:off x="1554480" y="5029200"/>
            <a:ext cx="1948221" cy="566928"/>
          </a:xfrm>
          <a:prstGeom prst="roundRect">
            <a:avLst>
              <a:gd name="adj" fmla="val 12903"/>
            </a:avLst>
          </a:prstGeom>
          <a:solidFill>
            <a:srgbClr val="E3F3F1"/>
          </a:solidFill>
          <a:ln w="6350">
            <a:solidFill>
              <a:srgbClr val="E3F3F1"/>
            </a:solidFill>
            <a:prstDash val="solid"/>
          </a:ln>
        </p:spPr>
      </p:sp>
      <p:pic>
        <p:nvPicPr>
          <p:cNvPr id="13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682496" y="5212080"/>
            <a:ext cx="201168" cy="201168"/>
          </a:xfrm>
          <a:prstGeom prst="rect">
            <a:avLst/>
          </a:prstGeom>
        </p:spPr>
      </p:pic>
      <p:sp>
        <p:nvSpPr>
          <p:cNvPr id="133" name="Text 98"/>
          <p:cNvSpPr txBox="1"/>
          <p:nvPr/>
        </p:nvSpPr>
        <p:spPr>
          <a:xfrm>
            <a:off x="1975104" y="5120640"/>
            <a:ext cx="147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Air-gap, proven 3 ways</a:t>
            </a:r>
            <a:endParaRPr lang="en-US" sz="1050" dirty="0"/>
          </a:p>
        </p:txBody>
      </p:sp>
      <p:sp>
        <p:nvSpPr>
          <p:cNvPr id="134" name="Text 99"/>
          <p:cNvSpPr txBox="1"/>
          <p:nvPr/>
        </p:nvSpPr>
        <p:spPr>
          <a:xfrm>
            <a:off x="1975104" y="5330952"/>
            <a:ext cx="147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OS · firewall checks</a:t>
            </a:r>
            <a:endParaRPr lang="en-US" sz="850" dirty="0"/>
          </a:p>
        </p:txBody>
      </p:sp>
      <p:sp>
        <p:nvSpPr>
          <p:cNvPr id="135" name="Shape 100"/>
          <p:cNvSpPr/>
          <p:nvPr/>
        </p:nvSpPr>
        <p:spPr>
          <a:xfrm>
            <a:off x="3612429" y="5029200"/>
            <a:ext cx="1948221" cy="566928"/>
          </a:xfrm>
          <a:prstGeom prst="roundRect">
            <a:avLst>
              <a:gd name="adj" fmla="val 12903"/>
            </a:avLst>
          </a:prstGeom>
          <a:solidFill>
            <a:srgbClr val="E3F3F1"/>
          </a:solidFill>
          <a:ln w="6350">
            <a:solidFill>
              <a:srgbClr val="E3F3F1"/>
            </a:solidFill>
            <a:prstDash val="solid"/>
          </a:ln>
        </p:spPr>
      </p:sp>
      <p:pic>
        <p:nvPicPr>
          <p:cNvPr id="13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40445" y="5212080"/>
            <a:ext cx="201168" cy="201168"/>
          </a:xfrm>
          <a:prstGeom prst="rect">
            <a:avLst/>
          </a:prstGeom>
        </p:spPr>
      </p:pic>
      <p:sp>
        <p:nvSpPr>
          <p:cNvPr id="137" name="Text 101"/>
          <p:cNvSpPr txBox="1"/>
          <p:nvPr/>
        </p:nvSpPr>
        <p:spPr>
          <a:xfrm>
            <a:off x="4033053" y="5120640"/>
            <a:ext cx="147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</a:t>
            </a:r>
            <a:endParaRPr lang="en-US" sz="1050" dirty="0"/>
          </a:p>
        </p:txBody>
      </p:sp>
      <p:sp>
        <p:nvSpPr>
          <p:cNvPr id="138" name="Text 102"/>
          <p:cNvSpPr txBox="1"/>
          <p:nvPr/>
        </p:nvSpPr>
        <p:spPr>
          <a:xfrm>
            <a:off x="4033053" y="5330952"/>
            <a:ext cx="147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· read-only</a:t>
            </a:r>
            <a:endParaRPr lang="en-US" sz="850" dirty="0"/>
          </a:p>
        </p:txBody>
      </p:sp>
      <p:sp>
        <p:nvSpPr>
          <p:cNvPr id="139" name="Shape 103"/>
          <p:cNvSpPr/>
          <p:nvPr/>
        </p:nvSpPr>
        <p:spPr>
          <a:xfrm>
            <a:off x="5670377" y="5029200"/>
            <a:ext cx="1948221" cy="566928"/>
          </a:xfrm>
          <a:prstGeom prst="roundRect">
            <a:avLst>
              <a:gd name="adj" fmla="val 12903"/>
            </a:avLst>
          </a:prstGeom>
          <a:solidFill>
            <a:srgbClr val="E3F3F1"/>
          </a:solidFill>
          <a:ln w="6350">
            <a:solidFill>
              <a:srgbClr val="E3F3F1"/>
            </a:solidFill>
            <a:prstDash val="solid"/>
          </a:ln>
        </p:spPr>
      </p:sp>
      <p:pic>
        <p:nvPicPr>
          <p:cNvPr id="14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98393" y="5212080"/>
            <a:ext cx="201168" cy="201168"/>
          </a:xfrm>
          <a:prstGeom prst="rect">
            <a:avLst/>
          </a:prstGeom>
        </p:spPr>
      </p:pic>
      <p:sp>
        <p:nvSpPr>
          <p:cNvPr id="141" name="Text 104"/>
          <p:cNvSpPr txBox="1"/>
          <p:nvPr/>
        </p:nvSpPr>
        <p:spPr>
          <a:xfrm>
            <a:off x="6091001" y="5120640"/>
            <a:ext cx="147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050" dirty="0"/>
          </a:p>
        </p:txBody>
      </p:sp>
      <p:sp>
        <p:nvSpPr>
          <p:cNvPr id="142" name="Text 105"/>
          <p:cNvSpPr txBox="1"/>
          <p:nvPr/>
        </p:nvSpPr>
        <p:spPr>
          <a:xfrm>
            <a:off x="6091001" y="5330952"/>
            <a:ext cx="147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</a:t>
            </a:r>
            <a:endParaRPr lang="en-US" sz="850" dirty="0"/>
          </a:p>
        </p:txBody>
      </p:sp>
      <p:sp>
        <p:nvSpPr>
          <p:cNvPr id="143" name="Shape 106"/>
          <p:cNvSpPr/>
          <p:nvPr/>
        </p:nvSpPr>
        <p:spPr>
          <a:xfrm>
            <a:off x="7728326" y="5029200"/>
            <a:ext cx="1948221" cy="566928"/>
          </a:xfrm>
          <a:prstGeom prst="roundRect">
            <a:avLst>
              <a:gd name="adj" fmla="val 12903"/>
            </a:avLst>
          </a:prstGeom>
          <a:solidFill>
            <a:srgbClr val="E3F3F1"/>
          </a:solidFill>
          <a:ln w="6350">
            <a:solidFill>
              <a:srgbClr val="E3F3F1"/>
            </a:solidFill>
            <a:prstDash val="solid"/>
          </a:ln>
        </p:spPr>
      </p:sp>
      <p:pic>
        <p:nvPicPr>
          <p:cNvPr id="14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6342" y="5212080"/>
            <a:ext cx="201168" cy="201168"/>
          </a:xfrm>
          <a:prstGeom prst="rect">
            <a:avLst/>
          </a:prstGeom>
        </p:spPr>
      </p:pic>
      <p:sp>
        <p:nvSpPr>
          <p:cNvPr id="145" name="Text 107"/>
          <p:cNvSpPr txBox="1"/>
          <p:nvPr/>
        </p:nvSpPr>
        <p:spPr>
          <a:xfrm>
            <a:off x="8148950" y="5120640"/>
            <a:ext cx="147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Engine-agnostic serving</a:t>
            </a:r>
            <a:endParaRPr lang="en-US" sz="1050" dirty="0"/>
          </a:p>
        </p:txBody>
      </p:sp>
      <p:sp>
        <p:nvSpPr>
          <p:cNvPr id="146" name="Text 108"/>
          <p:cNvSpPr txBox="1"/>
          <p:nvPr/>
        </p:nvSpPr>
        <p:spPr>
          <a:xfrm>
            <a:off x="8148950" y="5330952"/>
            <a:ext cx="147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now → vLLM on GPU</a:t>
            </a:r>
            <a:endParaRPr lang="en-US" sz="850" dirty="0"/>
          </a:p>
        </p:txBody>
      </p:sp>
      <p:sp>
        <p:nvSpPr>
          <p:cNvPr id="147" name="Shape 109"/>
          <p:cNvSpPr/>
          <p:nvPr/>
        </p:nvSpPr>
        <p:spPr>
          <a:xfrm>
            <a:off x="9786275" y="5029200"/>
            <a:ext cx="1948221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A94A3"/>
            </a:solidFill>
            <a:prstDash val="dash"/>
          </a:ln>
        </p:spPr>
      </p:sp>
      <p:pic>
        <p:nvPicPr>
          <p:cNvPr id="14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14291" y="5212080"/>
            <a:ext cx="201168" cy="201168"/>
          </a:xfrm>
          <a:prstGeom prst="rect">
            <a:avLst/>
          </a:prstGeom>
        </p:spPr>
      </p:pic>
      <p:sp>
        <p:nvSpPr>
          <p:cNvPr id="149" name="Text 110"/>
          <p:cNvSpPr txBox="1"/>
          <p:nvPr/>
        </p:nvSpPr>
        <p:spPr>
          <a:xfrm>
            <a:off x="10206899" y="5120640"/>
            <a:ext cx="147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150" name="Text 111"/>
          <p:cNvSpPr txBox="1"/>
          <p:nvPr/>
        </p:nvSpPr>
        <p:spPr>
          <a:xfrm>
            <a:off x="10206899" y="5330952"/>
            <a:ext cx="147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 </a:t>
            </a:r>
            <a:pPr indent="0" marL="0">
              <a:buNone/>
            </a:pPr>
            <a:r>
              <a:rPr lang="en-US" sz="8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Engineer</a:t>
            </a:r>
            <a:endParaRPr lang="en-US" sz="850" dirty="0"/>
          </a:p>
        </p:txBody>
      </p:sp>
      <p:sp>
        <p:nvSpPr>
          <p:cNvPr id="151" name="Text 112"/>
          <p:cNvSpPr txBox="1"/>
          <p:nvPr/>
        </p:nvSpPr>
        <p:spPr>
          <a:xfrm>
            <a:off x="457200" y="5815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52" name="Shape 113"/>
          <p:cNvSpPr/>
          <p:nvPr/>
        </p:nvSpPr>
        <p:spPr>
          <a:xfrm>
            <a:off x="1554480" y="5815584"/>
            <a:ext cx="10180015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/>
        </p:spPr>
      </p:sp>
      <p:pic>
        <p:nvPicPr>
          <p:cNvPr id="153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45920" y="5998464"/>
            <a:ext cx="201168" cy="201168"/>
          </a:xfrm>
          <a:prstGeom prst="rect">
            <a:avLst/>
          </a:prstGeom>
        </p:spPr>
      </p:pic>
      <p:sp>
        <p:nvSpPr>
          <p:cNvPr id="154" name="Text 114"/>
          <p:cNvSpPr txBox="1"/>
          <p:nvPr/>
        </p:nvSpPr>
        <p:spPr>
          <a:xfrm>
            <a:off x="1901952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155" name="Text 115"/>
          <p:cNvSpPr txBox="1"/>
          <p:nvPr/>
        </p:nvSpPr>
        <p:spPr>
          <a:xfrm>
            <a:off x="1901952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</a:t>
            </a:r>
            <a:endParaRPr lang="en-US" sz="950" dirty="0"/>
          </a:p>
        </p:txBody>
      </p:sp>
      <p:pic>
        <p:nvPicPr>
          <p:cNvPr id="15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66873" y="5998464"/>
            <a:ext cx="201168" cy="201168"/>
          </a:xfrm>
          <a:prstGeom prst="rect">
            <a:avLst/>
          </a:prstGeom>
        </p:spPr>
      </p:pic>
      <p:sp>
        <p:nvSpPr>
          <p:cNvPr id="157" name="Text 116"/>
          <p:cNvSpPr txBox="1"/>
          <p:nvPr/>
        </p:nvSpPr>
        <p:spPr>
          <a:xfrm>
            <a:off x="3022905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158" name="Text 117"/>
          <p:cNvSpPr txBox="1"/>
          <p:nvPr/>
        </p:nvSpPr>
        <p:spPr>
          <a:xfrm>
            <a:off x="3022905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pic>
        <p:nvPicPr>
          <p:cNvPr id="15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887826" y="5998464"/>
            <a:ext cx="201168" cy="201168"/>
          </a:xfrm>
          <a:prstGeom prst="rect">
            <a:avLst/>
          </a:prstGeom>
        </p:spPr>
      </p:pic>
      <p:sp>
        <p:nvSpPr>
          <p:cNvPr id="160" name="Text 118"/>
          <p:cNvSpPr txBox="1"/>
          <p:nvPr/>
        </p:nvSpPr>
        <p:spPr>
          <a:xfrm>
            <a:off x="4143858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700" dirty="0"/>
          </a:p>
        </p:txBody>
      </p:sp>
      <p:sp>
        <p:nvSpPr>
          <p:cNvPr id="161" name="Text 119"/>
          <p:cNvSpPr txBox="1"/>
          <p:nvPr/>
        </p:nvSpPr>
        <p:spPr>
          <a:xfrm>
            <a:off x="4143858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→ vLLM</a:t>
            </a:r>
            <a:endParaRPr lang="en-US" sz="950" dirty="0"/>
          </a:p>
        </p:txBody>
      </p:sp>
      <p:pic>
        <p:nvPicPr>
          <p:cNvPr id="16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008778" y="5998464"/>
            <a:ext cx="201168" cy="201168"/>
          </a:xfrm>
          <a:prstGeom prst="rect">
            <a:avLst/>
          </a:prstGeom>
        </p:spPr>
      </p:pic>
      <p:sp>
        <p:nvSpPr>
          <p:cNvPr id="163" name="Text 120"/>
          <p:cNvSpPr txBox="1"/>
          <p:nvPr/>
        </p:nvSpPr>
        <p:spPr>
          <a:xfrm>
            <a:off x="5264810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700" dirty="0"/>
          </a:p>
        </p:txBody>
      </p:sp>
      <p:sp>
        <p:nvSpPr>
          <p:cNvPr id="164" name="Text 121"/>
          <p:cNvSpPr txBox="1"/>
          <p:nvPr/>
        </p:nvSpPr>
        <p:spPr>
          <a:xfrm>
            <a:off x="5264810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· 7B</a:t>
            </a:r>
            <a:endParaRPr lang="en-US" sz="950" dirty="0"/>
          </a:p>
        </p:txBody>
      </p:sp>
      <p:pic>
        <p:nvPicPr>
          <p:cNvPr id="165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129731" y="5998464"/>
            <a:ext cx="201168" cy="201168"/>
          </a:xfrm>
          <a:prstGeom prst="rect">
            <a:avLst/>
          </a:prstGeom>
        </p:spPr>
      </p:pic>
      <p:sp>
        <p:nvSpPr>
          <p:cNvPr id="166" name="Text 122"/>
          <p:cNvSpPr txBox="1"/>
          <p:nvPr/>
        </p:nvSpPr>
        <p:spPr>
          <a:xfrm>
            <a:off x="6385763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700" dirty="0"/>
          </a:p>
        </p:txBody>
      </p:sp>
      <p:sp>
        <p:nvSpPr>
          <p:cNvPr id="167" name="Text 123"/>
          <p:cNvSpPr txBox="1"/>
          <p:nvPr/>
        </p:nvSpPr>
        <p:spPr>
          <a:xfrm>
            <a:off x="6385763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pic>
        <p:nvPicPr>
          <p:cNvPr id="16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250684" y="5998464"/>
            <a:ext cx="201168" cy="201168"/>
          </a:xfrm>
          <a:prstGeom prst="rect">
            <a:avLst/>
          </a:prstGeom>
        </p:spPr>
      </p:pic>
      <p:sp>
        <p:nvSpPr>
          <p:cNvPr id="169" name="Text 124"/>
          <p:cNvSpPr txBox="1"/>
          <p:nvPr/>
        </p:nvSpPr>
        <p:spPr>
          <a:xfrm>
            <a:off x="7506716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AUDIT</a:t>
            </a:r>
            <a:endParaRPr lang="en-US" sz="700" dirty="0"/>
          </a:p>
        </p:txBody>
      </p:sp>
      <p:sp>
        <p:nvSpPr>
          <p:cNvPr id="170" name="Text 125"/>
          <p:cNvSpPr txBox="1"/>
          <p:nvPr/>
        </p:nvSpPr>
        <p:spPr>
          <a:xfrm>
            <a:off x="7506716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pic>
        <p:nvPicPr>
          <p:cNvPr id="17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371637" y="5998464"/>
            <a:ext cx="201168" cy="201168"/>
          </a:xfrm>
          <a:prstGeom prst="rect">
            <a:avLst/>
          </a:prstGeom>
        </p:spPr>
      </p:pic>
      <p:sp>
        <p:nvSpPr>
          <p:cNvPr id="172" name="Text 126"/>
          <p:cNvSpPr txBox="1"/>
          <p:nvPr/>
        </p:nvSpPr>
        <p:spPr>
          <a:xfrm>
            <a:off x="8627669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PREP</a:t>
            </a:r>
            <a:endParaRPr lang="en-US" sz="700" dirty="0"/>
          </a:p>
        </p:txBody>
      </p:sp>
      <p:sp>
        <p:nvSpPr>
          <p:cNvPr id="173" name="Text 127"/>
          <p:cNvSpPr txBox="1"/>
          <p:nvPr/>
        </p:nvSpPr>
        <p:spPr>
          <a:xfrm>
            <a:off x="8627669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pic>
        <p:nvPicPr>
          <p:cNvPr id="17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92590" y="5998464"/>
            <a:ext cx="201168" cy="201168"/>
          </a:xfrm>
          <a:prstGeom prst="rect">
            <a:avLst/>
          </a:prstGeom>
        </p:spPr>
      </p:pic>
      <p:sp>
        <p:nvSpPr>
          <p:cNvPr id="175" name="Text 128"/>
          <p:cNvSpPr txBox="1"/>
          <p:nvPr/>
        </p:nvSpPr>
        <p:spPr>
          <a:xfrm>
            <a:off x="9748622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OUTPUT</a:t>
            </a:r>
            <a:endParaRPr lang="en-US" sz="700" dirty="0"/>
          </a:p>
        </p:txBody>
      </p:sp>
      <p:sp>
        <p:nvSpPr>
          <p:cNvPr id="176" name="Text 129"/>
          <p:cNvSpPr txBox="1"/>
          <p:nvPr/>
        </p:nvSpPr>
        <p:spPr>
          <a:xfrm>
            <a:off x="9748622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pptx · xlsx</a:t>
            </a:r>
            <a:endParaRPr lang="en-US" sz="950" dirty="0"/>
          </a:p>
        </p:txBody>
      </p:sp>
      <p:pic>
        <p:nvPicPr>
          <p:cNvPr id="17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13542" y="5998464"/>
            <a:ext cx="201168" cy="201168"/>
          </a:xfrm>
          <a:prstGeom prst="rect">
            <a:avLst/>
          </a:prstGeom>
        </p:spPr>
      </p:pic>
      <p:sp>
        <p:nvSpPr>
          <p:cNvPr id="178" name="Text 130"/>
          <p:cNvSpPr txBox="1"/>
          <p:nvPr/>
        </p:nvSpPr>
        <p:spPr>
          <a:xfrm>
            <a:off x="10869574" y="5925312"/>
            <a:ext cx="8466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700" dirty="0"/>
          </a:p>
        </p:txBody>
      </p:sp>
      <p:sp>
        <p:nvSpPr>
          <p:cNvPr id="179" name="Text 131"/>
          <p:cNvSpPr txBox="1"/>
          <p:nvPr/>
        </p:nvSpPr>
        <p:spPr>
          <a:xfrm>
            <a:off x="10869574" y="6089904"/>
            <a:ext cx="846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Technical Approach</dc:title>
  <dc:subject>PptxGenJS Presentation</dc:subject>
  <dc:creator>PptxGenJS</dc:creator>
  <cp:lastModifiedBy>PptxGenJS</cp:lastModifiedBy>
  <cp:revision>1</cp:revision>
  <dcterms:created xsi:type="dcterms:W3CDTF">2026-09-16T04:35:21Z</dcterms:created>
  <dcterms:modified xsi:type="dcterms:W3CDTF">2026-09-16T04:35:21Z</dcterms:modified>
</cp:coreProperties>
</file>