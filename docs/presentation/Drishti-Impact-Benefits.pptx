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BENEFITS (~40 s, go card by card, read only the green line):
Engineers get a cited answer from the plant's own SOPs instead of searching folders.
Inspection teams turn a scanned inspection sheet into a Word approval note in about 70 seconds — every number read off the page.
Management gets ready-to-sign Word, PowerPoint and Excel files, each carrying its source.
Security and IT get AI with zero external calls — data, models and logs stay inside the plant.
HSE and compliance get a sweep that flags overdue SOP reviews before an audit does, backed by a tamper-evident log.
And the organisation keeps its expertise: equipment, procedures, revisions and standards linked in one graph.
SCREENSHOT (right): point at the live build while you talk — it runs fully offline.
SCALING PATH (~20 s):
Now — everything in the top half is built and working today.
Next — for the MRPL pilot: login and role-based access, moving from Ollama to vLLM on MRPL's GPU server, and a human sign-off workflow.
Later — multi-page drawings and P&amp;IDs, root-cause analysis across incidents, and connectors to existing plant systems.
NOTE: "~70 s" and "in seconds" were measured on our development machine with models warm. Items under Next and Later are not built yet —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I Screenshot"/>
          <p:cNvSpPr/>
          <p:nvPr>
            <p:ph type="pic" idx="100"/>
          </p:nvPr>
        </p:nvSpPr>
        <p:spPr>
          <a:xfrm>
            <a:off x="7022592" y="1956816"/>
            <a:ext cx="4638751" cy="28712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POPEYE  ·  SIH26117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385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plant knowledge becomes action —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ever leaving the plant.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75488"/>
            <a:ext cx="1901952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301752"/>
            <a:ext cx="1947672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1664208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63500" dist="15240" dir="5400000">
              <a:srgbClr val="0B1F3A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85216" y="1773936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1869948"/>
            <a:ext cx="192024" cy="192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78992" y="1755648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&amp; Technical Teams</a:t>
            </a:r>
            <a:endParaRPr lang="en-US" sz="1250" dirty="0"/>
          </a:p>
        </p:txBody>
      </p:sp>
      <p:sp>
        <p:nvSpPr>
          <p:cNvPr id="11" name="Text 6"/>
          <p:cNvSpPr txBox="1"/>
          <p:nvPr/>
        </p:nvSpPr>
        <p:spPr>
          <a:xfrm>
            <a:off x="1078992" y="1975104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not searching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85216" y="2240280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281428"/>
            <a:ext cx="100584" cy="1005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22960" y="2240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SOP folders by hand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85216" y="2441448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E3F3F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482596"/>
            <a:ext cx="100584" cy="1005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22960" y="24414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SOP answer in seconds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3657600" y="1664208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63500" dist="15240" dir="5400000">
              <a:srgbClr val="0B1F3A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785616" y="1773936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628" y="1869948"/>
            <a:ext cx="192024" cy="19202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279392" y="1755648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Operations</a:t>
            </a:r>
            <a:endParaRPr lang="en-US" sz="1250" dirty="0"/>
          </a:p>
        </p:txBody>
      </p:sp>
      <p:sp>
        <p:nvSpPr>
          <p:cNvPr id="22" name="Text 14"/>
          <p:cNvSpPr txBox="1"/>
          <p:nvPr/>
        </p:nvSpPr>
        <p:spPr>
          <a:xfrm>
            <a:off x="4279392" y="1975104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to decision, faster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3785616" y="2240280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768" y="2281428"/>
            <a:ext cx="100584" cy="100584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023360" y="2240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Retyping scanned inspection sheets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3785616" y="2441448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E3F3F1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8768" y="2482596"/>
            <a:ext cx="100584" cy="10058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023360" y="24414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approval note in ~70 s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457200" y="2779776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63500" dist="15240" dir="5400000">
              <a:srgbClr val="0B1F3A">
                <a:alpha val="10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585216" y="2889504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" y="2985516"/>
            <a:ext cx="192024" cy="192024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078992" y="28712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Approvals</a:t>
            </a:r>
            <a:endParaRPr lang="en-US" sz="1250" dirty="0"/>
          </a:p>
        </p:txBody>
      </p:sp>
      <p:sp>
        <p:nvSpPr>
          <p:cNvPr id="33" name="Text 22"/>
          <p:cNvSpPr txBox="1"/>
          <p:nvPr/>
        </p:nvSpPr>
        <p:spPr>
          <a:xfrm>
            <a:off x="1078992" y="309067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Ready-to-sign deliverables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585216" y="3355848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3396996"/>
            <a:ext cx="100584" cy="100584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22960" y="33558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Hand-drafting notes, decks, sheets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585216" y="3557016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E3F3F1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3598164"/>
            <a:ext cx="100584" cy="100584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822960" y="35570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files generated, with sources</a:t>
            </a:r>
            <a:endParaRPr lang="en-US" sz="950" dirty="0"/>
          </a:p>
        </p:txBody>
      </p:sp>
      <p:sp>
        <p:nvSpPr>
          <p:cNvPr id="40" name="Shape 27"/>
          <p:cNvSpPr/>
          <p:nvPr/>
        </p:nvSpPr>
        <p:spPr>
          <a:xfrm>
            <a:off x="3657600" y="2779776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63500" dist="15240" dir="5400000">
              <a:srgbClr val="0B1F3A">
                <a:alpha val="10000"/>
              </a:srgbClr>
            </a:outerShdw>
          </a:effectLst>
        </p:spPr>
      </p:sp>
      <p:sp>
        <p:nvSpPr>
          <p:cNvPr id="41" name="Shape 28"/>
          <p:cNvSpPr/>
          <p:nvPr/>
        </p:nvSpPr>
        <p:spPr>
          <a:xfrm>
            <a:off x="3785616" y="2889504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1628" y="2985516"/>
            <a:ext cx="192024" cy="192024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4279392" y="28712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IT</a:t>
            </a:r>
            <a:endParaRPr lang="en-US" sz="1250" dirty="0"/>
          </a:p>
        </p:txBody>
      </p:sp>
      <p:sp>
        <p:nvSpPr>
          <p:cNvPr id="44" name="Text 30"/>
          <p:cNvSpPr txBox="1"/>
          <p:nvPr/>
        </p:nvSpPr>
        <p:spPr>
          <a:xfrm>
            <a:off x="4279392" y="3090672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without data leakage</a:t>
            </a:r>
            <a:endParaRPr lang="en-US" sz="1000" dirty="0"/>
          </a:p>
        </p:txBody>
      </p:sp>
      <p:sp>
        <p:nvSpPr>
          <p:cNvPr id="45" name="Shape 31"/>
          <p:cNvSpPr/>
          <p:nvPr/>
        </p:nvSpPr>
        <p:spPr>
          <a:xfrm>
            <a:off x="3785616" y="3355848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8768" y="3396996"/>
            <a:ext cx="100584" cy="100584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4023360" y="335584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off-limits for plant data</a:t>
            </a:r>
            <a:endParaRPr lang="en-US" sz="900" dirty="0"/>
          </a:p>
        </p:txBody>
      </p:sp>
      <p:sp>
        <p:nvSpPr>
          <p:cNvPr id="48" name="Shape 33"/>
          <p:cNvSpPr/>
          <p:nvPr/>
        </p:nvSpPr>
        <p:spPr>
          <a:xfrm>
            <a:off x="3785616" y="3557016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E3F3F1"/>
          </a:solidFill>
          <a:ln/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58768" y="3598164"/>
            <a:ext cx="100584" cy="100584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4023360" y="35570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external calls — all in-plant</a:t>
            </a:r>
            <a:endParaRPr lang="en-US" sz="950" dirty="0"/>
          </a:p>
        </p:txBody>
      </p:sp>
      <p:sp>
        <p:nvSpPr>
          <p:cNvPr id="51" name="Shape 35"/>
          <p:cNvSpPr/>
          <p:nvPr/>
        </p:nvSpPr>
        <p:spPr>
          <a:xfrm>
            <a:off x="457200" y="3895344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63500" dist="15240" dir="5400000">
              <a:srgbClr val="0B1F3A">
                <a:alpha val="10000"/>
              </a:srgbClr>
            </a:outerShdw>
          </a:effectLst>
        </p:spPr>
      </p:sp>
      <p:sp>
        <p:nvSpPr>
          <p:cNvPr id="52" name="Shape 36"/>
          <p:cNvSpPr/>
          <p:nvPr/>
        </p:nvSpPr>
        <p:spPr>
          <a:xfrm>
            <a:off x="585216" y="4005072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228" y="4101084"/>
            <a:ext cx="192024" cy="192024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1078992" y="398678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&amp; Compliance</a:t>
            </a:r>
            <a:endParaRPr lang="en-US" sz="1250" dirty="0"/>
          </a:p>
        </p:txBody>
      </p:sp>
      <p:sp>
        <p:nvSpPr>
          <p:cNvPr id="55" name="Text 38"/>
          <p:cNvSpPr txBox="1"/>
          <p:nvPr/>
        </p:nvSpPr>
        <p:spPr>
          <a:xfrm>
            <a:off x="1078992" y="420624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caught before audits</a:t>
            </a:r>
            <a:endParaRPr lang="en-US" sz="1000" dirty="0"/>
          </a:p>
        </p:txBody>
      </p:sp>
      <p:sp>
        <p:nvSpPr>
          <p:cNvPr id="56" name="Shape 39"/>
          <p:cNvSpPr/>
          <p:nvPr/>
        </p:nvSpPr>
        <p:spPr>
          <a:xfrm>
            <a:off x="585216" y="4471416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/>
        </p:spPr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" y="4512564"/>
            <a:ext cx="100584" cy="100584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822960" y="44714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reviews found at audit</a:t>
            </a:r>
            <a:endParaRPr lang="en-US" sz="900" dirty="0"/>
          </a:p>
        </p:txBody>
      </p:sp>
      <p:sp>
        <p:nvSpPr>
          <p:cNvPr id="59" name="Shape 41"/>
          <p:cNvSpPr/>
          <p:nvPr/>
        </p:nvSpPr>
        <p:spPr>
          <a:xfrm>
            <a:off x="585216" y="4672584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E3F3F1"/>
          </a:solidFill>
          <a:ln/>
        </p:spPr>
      </p:sp>
      <p:pic>
        <p:nvPicPr>
          <p:cNvPr id="6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368" y="4713732"/>
            <a:ext cx="100584" cy="100584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22960" y="46725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early · tamper-evident log</a:t>
            </a:r>
            <a:endParaRPr lang="en-US" sz="950" dirty="0"/>
          </a:p>
        </p:txBody>
      </p:sp>
      <p:sp>
        <p:nvSpPr>
          <p:cNvPr id="62" name="Shape 43"/>
          <p:cNvSpPr/>
          <p:nvPr/>
        </p:nvSpPr>
        <p:spPr>
          <a:xfrm>
            <a:off x="3657600" y="3895344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DE2E9"/>
            </a:solidFill>
            <a:prstDash val="solid"/>
          </a:ln>
          <a:effectLst>
            <a:outerShdw sx="100000" sy="100000" kx="0" ky="0" algn="bl" rotWithShape="0" blurRad="63500" dist="15240" dir="5400000">
              <a:srgbClr val="0B1F3A">
                <a:alpha val="10000"/>
              </a:srgbClr>
            </a:outerShdw>
          </a:effectLst>
        </p:spPr>
      </p:sp>
      <p:sp>
        <p:nvSpPr>
          <p:cNvPr id="63" name="Shape 44"/>
          <p:cNvSpPr/>
          <p:nvPr/>
        </p:nvSpPr>
        <p:spPr>
          <a:xfrm>
            <a:off x="3785616" y="4005072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6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81628" y="4101084"/>
            <a:ext cx="192024" cy="192024"/>
          </a:xfrm>
          <a:prstGeom prst="rect">
            <a:avLst/>
          </a:prstGeom>
        </p:spPr>
      </p:pic>
      <p:sp>
        <p:nvSpPr>
          <p:cNvPr id="65" name="Text 45"/>
          <p:cNvSpPr txBox="1"/>
          <p:nvPr/>
        </p:nvSpPr>
        <p:spPr>
          <a:xfrm>
            <a:off x="4279392" y="398678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Knowledge</a:t>
            </a:r>
            <a:endParaRPr lang="en-US" sz="1250" dirty="0"/>
          </a:p>
        </p:txBody>
      </p:sp>
      <p:sp>
        <p:nvSpPr>
          <p:cNvPr id="66" name="Text 46"/>
          <p:cNvSpPr txBox="1"/>
          <p:nvPr/>
        </p:nvSpPr>
        <p:spPr>
          <a:xfrm>
            <a:off x="4279392" y="420624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that stays</a:t>
            </a:r>
            <a:endParaRPr lang="en-US" sz="1000" dirty="0"/>
          </a:p>
        </p:txBody>
      </p:sp>
      <p:sp>
        <p:nvSpPr>
          <p:cNvPr id="67" name="Shape 47"/>
          <p:cNvSpPr/>
          <p:nvPr/>
        </p:nvSpPr>
        <p:spPr>
          <a:xfrm>
            <a:off x="3785616" y="4471416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/>
        </p:spPr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58768" y="4512564"/>
            <a:ext cx="100584" cy="100584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4023360" y="44714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Know-how leaves with experts</a:t>
            </a:r>
            <a:endParaRPr lang="en-US" sz="900" dirty="0"/>
          </a:p>
        </p:txBody>
      </p:sp>
      <p:sp>
        <p:nvSpPr>
          <p:cNvPr id="70" name="Shape 49"/>
          <p:cNvSpPr/>
          <p:nvPr/>
        </p:nvSpPr>
        <p:spPr>
          <a:xfrm>
            <a:off x="3785616" y="4672584"/>
            <a:ext cx="2807208" cy="182880"/>
          </a:xfrm>
          <a:prstGeom prst="roundRect">
            <a:avLst>
              <a:gd name="adj" fmla="val 20000"/>
            </a:avLst>
          </a:prstGeom>
          <a:solidFill>
            <a:srgbClr val="E3F3F1"/>
          </a:solidFill>
          <a:ln/>
        </p:spPr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58768" y="4713732"/>
            <a:ext cx="100584" cy="100584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4023360" y="46725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SOPs &amp; standards linked</a:t>
            </a:r>
            <a:endParaRPr lang="en-US" sz="950" dirty="0"/>
          </a:p>
        </p:txBody>
      </p:sp>
      <p:sp>
        <p:nvSpPr>
          <p:cNvPr id="73" name="Shape 51"/>
          <p:cNvSpPr/>
          <p:nvPr/>
        </p:nvSpPr>
        <p:spPr>
          <a:xfrm>
            <a:off x="6949440" y="1664208"/>
            <a:ext cx="4785055" cy="3236976"/>
          </a:xfrm>
          <a:prstGeom prst="roundRect">
            <a:avLst>
              <a:gd name="adj" fmla="val 282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74" name="Shape 52"/>
          <p:cNvSpPr/>
          <p:nvPr/>
        </p:nvSpPr>
        <p:spPr>
          <a:xfrm>
            <a:off x="7114032" y="1764792"/>
            <a:ext cx="91440" cy="91440"/>
          </a:xfrm>
          <a:prstGeom prst="ellipse">
            <a:avLst/>
          </a:prstGeom>
          <a:solidFill>
            <a:srgbClr val="E86A5F"/>
          </a:solidFill>
          <a:ln/>
        </p:spPr>
      </p:sp>
      <p:sp>
        <p:nvSpPr>
          <p:cNvPr id="75" name="Shape 53"/>
          <p:cNvSpPr/>
          <p:nvPr/>
        </p:nvSpPr>
        <p:spPr>
          <a:xfrm>
            <a:off x="7269480" y="1764792"/>
            <a:ext cx="91440" cy="91440"/>
          </a:xfrm>
          <a:prstGeom prst="ellipse">
            <a:avLst/>
          </a:prstGeom>
          <a:solidFill>
            <a:srgbClr val="E8B34F"/>
          </a:solidFill>
          <a:ln/>
        </p:spPr>
      </p:sp>
      <p:sp>
        <p:nvSpPr>
          <p:cNvPr id="76" name="Shape 54"/>
          <p:cNvSpPr/>
          <p:nvPr/>
        </p:nvSpPr>
        <p:spPr>
          <a:xfrm>
            <a:off x="7424928" y="1764792"/>
            <a:ext cx="91440" cy="91440"/>
          </a:xfrm>
          <a:prstGeom prst="ellipse">
            <a:avLst/>
          </a:prstGeom>
          <a:solidFill>
            <a:srgbClr val="5FBF7A"/>
          </a:solidFill>
          <a:ln/>
        </p:spPr>
      </p:sp>
      <p:pic>
        <p:nvPicPr>
          <p:cNvPr id="7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62672" y="1760220"/>
            <a:ext cx="100584" cy="100584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7818120" y="1664208"/>
            <a:ext cx="3687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Workbench  ·  live build, fully offline</a:t>
            </a:r>
            <a:endParaRPr lang="en-US" sz="950" dirty="0"/>
          </a:p>
        </p:txBody>
      </p:sp>
      <p:sp>
        <p:nvSpPr>
          <p:cNvPr id="79" name="Shape 56"/>
          <p:cNvSpPr/>
          <p:nvPr/>
        </p:nvSpPr>
        <p:spPr>
          <a:xfrm>
            <a:off x="7022592" y="1956816"/>
            <a:ext cx="4638751" cy="287121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0" name="Text 57"/>
          <p:cNvSpPr txBox="1"/>
          <p:nvPr/>
        </p:nvSpPr>
        <p:spPr>
          <a:xfrm>
            <a:off x="7205472" y="4462272"/>
            <a:ext cx="4272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picture icon in this box to insert your UI screenshot  ·  16:10 works best</a:t>
            </a:r>
            <a:endParaRPr lang="en-US" sz="900" dirty="0"/>
          </a:p>
        </p:txBody>
      </p:sp>
      <p:sp>
        <p:nvSpPr>
          <p:cNvPr id="82" name="Shape 59"/>
          <p:cNvSpPr/>
          <p:nvPr/>
        </p:nvSpPr>
        <p:spPr>
          <a:xfrm>
            <a:off x="457200" y="5084064"/>
            <a:ext cx="11277295" cy="1335024"/>
          </a:xfrm>
          <a:prstGeom prst="roundRect">
            <a:avLst>
              <a:gd name="adj" fmla="val 8219"/>
            </a:avLst>
          </a:prstGeom>
          <a:solidFill>
            <a:srgbClr val="0B1F3A"/>
          </a:solidFill>
          <a:ln/>
        </p:spPr>
      </p:sp>
      <p:sp>
        <p:nvSpPr>
          <p:cNvPr id="83" name="Text 60"/>
          <p:cNvSpPr txBox="1"/>
          <p:nvPr/>
        </p:nvSpPr>
        <p:spPr>
          <a:xfrm>
            <a:off x="731520" y="52486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</p:txBody>
      </p:sp>
      <p:sp>
        <p:nvSpPr>
          <p:cNvPr id="84" name="Text 61"/>
          <p:cNvSpPr txBox="1"/>
          <p:nvPr/>
        </p:nvSpPr>
        <p:spPr>
          <a:xfrm>
            <a:off x="731520" y="5742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plant-wide rollout</a:t>
            </a:r>
            <a:endParaRPr lang="en-US" sz="950" dirty="0"/>
          </a:p>
        </p:txBody>
      </p:sp>
      <p:sp>
        <p:nvSpPr>
          <p:cNvPr id="85" name="Shape 62"/>
          <p:cNvSpPr/>
          <p:nvPr/>
        </p:nvSpPr>
        <p:spPr>
          <a:xfrm>
            <a:off x="2514600" y="523036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/>
        </p:spPr>
      </p:sp>
      <p:sp>
        <p:nvSpPr>
          <p:cNvPr id="86" name="Text 63"/>
          <p:cNvSpPr txBox="1"/>
          <p:nvPr/>
        </p:nvSpPr>
        <p:spPr>
          <a:xfrm>
            <a:off x="2514600" y="52303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87" name="Text 64"/>
          <p:cNvSpPr txBox="1"/>
          <p:nvPr/>
        </p:nvSpPr>
        <p:spPr>
          <a:xfrm>
            <a:off x="3355848" y="5230368"/>
            <a:ext cx="1896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working</a:t>
            </a:r>
            <a:endParaRPr lang="en-US" sz="1150" dirty="0"/>
          </a:p>
        </p:txBody>
      </p:sp>
      <p:pic>
        <p:nvPicPr>
          <p:cNvPr id="8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1176" y="5637276"/>
            <a:ext cx="54864" cy="54864"/>
          </a:xfrm>
          <a:prstGeom prst="rect">
            <a:avLst/>
          </a:prstGeom>
        </p:spPr>
      </p:pic>
      <p:sp>
        <p:nvSpPr>
          <p:cNvPr id="89" name="Text 65"/>
          <p:cNvSpPr txBox="1"/>
          <p:nvPr/>
        </p:nvSpPr>
        <p:spPr>
          <a:xfrm>
            <a:off x="2679192" y="55595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local agents with smart routing</a:t>
            </a:r>
            <a:endParaRPr lang="en-US" sz="1000" dirty="0"/>
          </a:p>
        </p:txBody>
      </p:sp>
      <p:pic>
        <p:nvPicPr>
          <p:cNvPr id="9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51176" y="5865876"/>
            <a:ext cx="54864" cy="54864"/>
          </a:xfrm>
          <a:prstGeom prst="rect">
            <a:avLst/>
          </a:prstGeom>
        </p:spPr>
      </p:pic>
      <p:sp>
        <p:nvSpPr>
          <p:cNvPr id="91" name="Text 66"/>
          <p:cNvSpPr txBox="1"/>
          <p:nvPr/>
        </p:nvSpPr>
        <p:spPr>
          <a:xfrm>
            <a:off x="2679192" y="57881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→ Word, PowerPoint, Excel</a:t>
            </a:r>
            <a:endParaRPr lang="en-US" sz="1000" dirty="0"/>
          </a:p>
        </p:txBody>
      </p:sp>
      <p:pic>
        <p:nvPicPr>
          <p:cNvPr id="9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51176" y="6094476"/>
            <a:ext cx="54864" cy="54864"/>
          </a:xfrm>
          <a:prstGeom prst="rect">
            <a:avLst/>
          </a:prstGeom>
        </p:spPr>
      </p:pic>
      <p:sp>
        <p:nvSpPr>
          <p:cNvPr id="93" name="Text 67"/>
          <p:cNvSpPr txBox="1"/>
          <p:nvPr/>
        </p:nvSpPr>
        <p:spPr>
          <a:xfrm>
            <a:off x="2679192" y="60167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compliance sweep</a:t>
            </a:r>
            <a:endParaRPr lang="en-US" sz="1000" dirty="0"/>
          </a:p>
        </p:txBody>
      </p:sp>
      <p:pic>
        <p:nvPicPr>
          <p:cNvPr id="9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71490" y="5285232"/>
            <a:ext cx="128016" cy="128016"/>
          </a:xfrm>
          <a:prstGeom prst="rect">
            <a:avLst/>
          </a:prstGeom>
        </p:spPr>
      </p:pic>
      <p:sp>
        <p:nvSpPr>
          <p:cNvPr id="95" name="Shape 68"/>
          <p:cNvSpPr/>
          <p:nvPr/>
        </p:nvSpPr>
        <p:spPr>
          <a:xfrm>
            <a:off x="5618378" y="523036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7FD6CB"/>
          </a:solidFill>
          <a:ln/>
        </p:spPr>
      </p:sp>
      <p:sp>
        <p:nvSpPr>
          <p:cNvPr id="96" name="Text 69"/>
          <p:cNvSpPr txBox="1"/>
          <p:nvPr/>
        </p:nvSpPr>
        <p:spPr>
          <a:xfrm>
            <a:off x="5618378" y="52303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97" name="Text 70"/>
          <p:cNvSpPr txBox="1"/>
          <p:nvPr/>
        </p:nvSpPr>
        <p:spPr>
          <a:xfrm>
            <a:off x="6459626" y="5230368"/>
            <a:ext cx="1896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MRPL</a:t>
            </a:r>
            <a:endParaRPr lang="en-US" sz="1150" dirty="0"/>
          </a:p>
        </p:txBody>
      </p:sp>
      <p:pic>
        <p:nvPicPr>
          <p:cNvPr id="9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54954" y="5637276"/>
            <a:ext cx="54864" cy="54864"/>
          </a:xfrm>
          <a:prstGeom prst="rect">
            <a:avLst/>
          </a:prstGeom>
        </p:spPr>
      </p:pic>
      <p:sp>
        <p:nvSpPr>
          <p:cNvPr id="99" name="Text 71"/>
          <p:cNvSpPr txBox="1"/>
          <p:nvPr/>
        </p:nvSpPr>
        <p:spPr>
          <a:xfrm>
            <a:off x="5782970" y="55595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role-based access</a:t>
            </a:r>
            <a:endParaRPr lang="en-US" sz="1000" dirty="0"/>
          </a:p>
        </p:txBody>
      </p:sp>
      <p:pic>
        <p:nvPicPr>
          <p:cNvPr id="10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54954" y="5865876"/>
            <a:ext cx="54864" cy="54864"/>
          </a:xfrm>
          <a:prstGeom prst="rect">
            <a:avLst/>
          </a:prstGeom>
        </p:spPr>
      </p:pic>
      <p:sp>
        <p:nvSpPr>
          <p:cNvPr id="101" name="Text 72"/>
          <p:cNvSpPr txBox="1"/>
          <p:nvPr/>
        </p:nvSpPr>
        <p:spPr>
          <a:xfrm>
            <a:off x="5782970" y="57881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on MRPL’s GPU server</a:t>
            </a:r>
            <a:endParaRPr lang="en-US" sz="1000" dirty="0"/>
          </a:p>
        </p:txBody>
      </p:sp>
      <p:pic>
        <p:nvPicPr>
          <p:cNvPr id="10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54954" y="6094476"/>
            <a:ext cx="54864" cy="54864"/>
          </a:xfrm>
          <a:prstGeom prst="rect">
            <a:avLst/>
          </a:prstGeom>
        </p:spPr>
      </p:pic>
      <p:sp>
        <p:nvSpPr>
          <p:cNvPr id="103" name="Text 73"/>
          <p:cNvSpPr txBox="1"/>
          <p:nvPr/>
        </p:nvSpPr>
        <p:spPr>
          <a:xfrm>
            <a:off x="5782970" y="60167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workflow</a:t>
            </a:r>
            <a:endParaRPr lang="en-US" sz="1000" dirty="0"/>
          </a:p>
        </p:txBody>
      </p:sp>
      <p:pic>
        <p:nvPicPr>
          <p:cNvPr id="104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75269" y="5285232"/>
            <a:ext cx="128016" cy="128016"/>
          </a:xfrm>
          <a:prstGeom prst="rect">
            <a:avLst/>
          </a:prstGeom>
        </p:spPr>
      </p:pic>
      <p:sp>
        <p:nvSpPr>
          <p:cNvPr id="105" name="Shape 74"/>
          <p:cNvSpPr/>
          <p:nvPr/>
        </p:nvSpPr>
        <p:spPr>
          <a:xfrm>
            <a:off x="8722157" y="523036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B8C4D6"/>
          </a:solidFill>
          <a:ln/>
        </p:spPr>
      </p:sp>
      <p:sp>
        <p:nvSpPr>
          <p:cNvPr id="106" name="Text 75"/>
          <p:cNvSpPr txBox="1"/>
          <p:nvPr/>
        </p:nvSpPr>
        <p:spPr>
          <a:xfrm>
            <a:off x="8722157" y="52303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50" dirty="0"/>
          </a:p>
        </p:txBody>
      </p:sp>
      <p:sp>
        <p:nvSpPr>
          <p:cNvPr id="107" name="Text 76"/>
          <p:cNvSpPr txBox="1"/>
          <p:nvPr/>
        </p:nvSpPr>
        <p:spPr>
          <a:xfrm>
            <a:off x="9563405" y="5230368"/>
            <a:ext cx="1896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Plant-wide &amp; beyond</a:t>
            </a:r>
            <a:endParaRPr lang="en-US" sz="1150" dirty="0"/>
          </a:p>
        </p:txBody>
      </p:sp>
      <p:pic>
        <p:nvPicPr>
          <p:cNvPr id="10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58733" y="5637276"/>
            <a:ext cx="54864" cy="54864"/>
          </a:xfrm>
          <a:prstGeom prst="rect">
            <a:avLst/>
          </a:prstGeom>
        </p:spPr>
      </p:pic>
      <p:sp>
        <p:nvSpPr>
          <p:cNvPr id="109" name="Text 77"/>
          <p:cNvSpPr txBox="1"/>
          <p:nvPr/>
        </p:nvSpPr>
        <p:spPr>
          <a:xfrm>
            <a:off x="8886749" y="55595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drawings &amp; P&amp;IDs</a:t>
            </a:r>
            <a:endParaRPr lang="en-US" sz="1000" dirty="0"/>
          </a:p>
        </p:txBody>
      </p:sp>
      <p:pic>
        <p:nvPicPr>
          <p:cNvPr id="11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58733" y="5865876"/>
            <a:ext cx="54864" cy="54864"/>
          </a:xfrm>
          <a:prstGeom prst="rect">
            <a:avLst/>
          </a:prstGeom>
        </p:spPr>
      </p:pic>
      <p:sp>
        <p:nvSpPr>
          <p:cNvPr id="111" name="Text 78"/>
          <p:cNvSpPr txBox="1"/>
          <p:nvPr/>
        </p:nvSpPr>
        <p:spPr>
          <a:xfrm>
            <a:off x="8886749" y="57881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across incidents</a:t>
            </a:r>
            <a:endParaRPr lang="en-US" sz="1000" dirty="0"/>
          </a:p>
        </p:txBody>
      </p:sp>
      <p:pic>
        <p:nvPicPr>
          <p:cNvPr id="11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58733" y="6094476"/>
            <a:ext cx="54864" cy="54864"/>
          </a:xfrm>
          <a:prstGeom prst="rect">
            <a:avLst/>
          </a:prstGeom>
        </p:spPr>
      </p:pic>
      <p:sp>
        <p:nvSpPr>
          <p:cNvPr id="113" name="Text 79"/>
          <p:cNvSpPr txBox="1"/>
          <p:nvPr/>
        </p:nvSpPr>
        <p:spPr>
          <a:xfrm>
            <a:off x="8886749" y="6016752"/>
            <a:ext cx="2555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plant systems</a:t>
            </a:r>
            <a:endParaRPr lang="en-US" sz="1000" dirty="0"/>
          </a:p>
        </p:txBody>
      </p:sp>
      <p:sp>
        <p:nvSpPr>
          <p:cNvPr id="81" name="UI Screenshot"/>
          <p:cNvSpPr/>
          <p:nvPr>
            <p:ph type="pic" idx="100"/>
          </p:nvPr>
        </p:nvSpPr>
        <p:spPr>
          <a:xfrm>
            <a:off x="7022592" y="1956816"/>
            <a:ext cx="4638751" cy="2871216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Impact &amp; Benefits</dc:title>
  <dc:subject>PptxGenJS Presentation</dc:subject>
  <dc:creator>PptxGenJS</dc:creator>
  <cp:lastModifiedBy>PptxGenJS</cp:lastModifiedBy>
  <cp:revision>1</cp:revision>
  <dcterms:created xsi:type="dcterms:W3CDTF">2026-09-16T05:09:15Z</dcterms:created>
  <dcterms:modified xsi:type="dcterms:W3CDTF">2026-09-16T05:09:15Z</dcterms:modified>
</cp:coreProperties>
</file>