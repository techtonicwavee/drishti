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(left, ~30 s): These are not projections — every number comes from our working build.
Zero external calls, proven three independent ways. Our vision pipeline read 12 of 12 fields correctly from a deliberately skewed, noisy inspection scan, and turned it into a Word approval note in about 70 seconds. It all runs on one mid-range GPU with four open 7B-class models under Apache 2.0, so there are no model licence fees.
(Timings measured on our development machine with models warm; the scan is a synthetic test sample.)
VIABILITY: Each refinery constraint is already handled — small models for limited compute with a config-only move to vLLM on a GPU server, an air-gapped design for sensitive data, forced retrieval and citation checks for trust, and outputs in Word, PowerPoint and Excel so engineers adopt it without retraining.
BUSINESS MODEL (right, ~30 s): India has 23 refineries and 258 MMTPA of capacity, targeted to reach 309.5 MMTPA by 2030. We sell Drishti as on-premise software: a one-time deployment and onboarding fee, an annual site licence, add-on domain agent packs, and support and training.
Go-to-market: pilot at MRPL, scale across the ONGC group and PSU refineries through standard PSU procurement, then expand to other process industries.
Why they buy: no per-query cloud bills, data never leaves, and it runs on hardware they already control.
IF ASKED ABOUT PRICING: Pricing will be set per site after the MRPL pilot measures time saved; we deliberately do not quote an unvalidated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POPEYE  ·  SIH26117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3385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a single GPU today — </a:t>
            </a:r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clear business path across India’s refineries.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75488"/>
            <a:ext cx="1901952" cy="5669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01752"/>
            <a:ext cx="1947672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1664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755648" y="1664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our working build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1993392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21792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621792" y="25694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network calls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2788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app, OS &amp; firewall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331720" y="1993392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496312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2496312" y="25694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read correctly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2496312" y="2788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skewed, noisy test scan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206240" y="1993392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370832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s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4370832" y="25694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approval note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4370832" y="2788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file with 9/9 key details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7200" y="3227832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21792" y="3319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GPU</a:t>
            </a:r>
            <a:endParaRPr lang="en-US" sz="3000" dirty="0"/>
          </a:p>
        </p:txBody>
      </p:sp>
      <p:sp>
        <p:nvSpPr>
          <p:cNvPr id="23" name="Text 19"/>
          <p:cNvSpPr txBox="1"/>
          <p:nvPr/>
        </p:nvSpPr>
        <p:spPr>
          <a:xfrm>
            <a:off x="621792" y="38039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is enough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21792" y="4023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gaming-class laptop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2331720" y="3227832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2496312" y="3319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3"/>
          <p:cNvSpPr txBox="1"/>
          <p:nvPr/>
        </p:nvSpPr>
        <p:spPr>
          <a:xfrm>
            <a:off x="2496312" y="38039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models, all local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2496312" y="4023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class · ~16 GB on disk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206240" y="3227832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370832" y="3319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000" dirty="0"/>
          </a:p>
        </p:txBody>
      </p:sp>
      <p:sp>
        <p:nvSpPr>
          <p:cNvPr id="31" name="Text 27"/>
          <p:cNvSpPr txBox="1"/>
          <p:nvPr/>
        </p:nvSpPr>
        <p:spPr>
          <a:xfrm>
            <a:off x="4370832" y="38039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licence fees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4370832" y="4023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open weights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457200" y="4462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1554480" y="4462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 constraints, already handled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7200" y="4773168"/>
            <a:ext cx="26746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85216" y="4956048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5052060"/>
            <a:ext cx="192024" cy="192024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1097280" y="4864608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compute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1097280" y="5084064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7B models; switch to vLLM on a GPU server by config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3268980" y="4773168"/>
            <a:ext cx="26746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396996" y="4956048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5052060"/>
            <a:ext cx="192024" cy="192024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3909060" y="4864608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3909060" y="5084064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by design — nothing leaves the plant network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457200" y="5650992"/>
            <a:ext cx="26746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85216" y="5833872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5929884"/>
            <a:ext cx="192024" cy="192024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097280" y="5742432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answers</a:t>
            </a:r>
            <a:endParaRPr lang="en-US" sz="1200" dirty="0"/>
          </a:p>
        </p:txBody>
      </p:sp>
      <p:sp>
        <p:nvSpPr>
          <p:cNvPr id="49" name="Text 42"/>
          <p:cNvSpPr txBox="1"/>
          <p:nvPr/>
        </p:nvSpPr>
        <p:spPr>
          <a:xfrm>
            <a:off x="1097280" y="5961888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forced every turn; every citation checked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3268980" y="5650992"/>
            <a:ext cx="26746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3396996" y="5833872"/>
            <a:ext cx="384048" cy="384048"/>
          </a:xfrm>
          <a:prstGeom prst="ellipse">
            <a:avLst/>
          </a:prstGeom>
          <a:solidFill>
            <a:srgbClr val="FBE9E7"/>
          </a:solidFill>
          <a:ln/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5929884"/>
            <a:ext cx="192024" cy="192024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3909060" y="5742432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3909060" y="5961888"/>
            <a:ext cx="1924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existing SOPs; outputs in Word, PowerPoint, Excel</a:t>
            </a:r>
            <a:endParaRPr lang="en-US" sz="950" dirty="0"/>
          </a:p>
        </p:txBody>
      </p:sp>
      <p:sp>
        <p:nvSpPr>
          <p:cNvPr id="55" name="Shape 47"/>
          <p:cNvSpPr/>
          <p:nvPr/>
        </p:nvSpPr>
        <p:spPr>
          <a:xfrm>
            <a:off x="6217920" y="1645920"/>
            <a:ext cx="5516575" cy="4773168"/>
          </a:xfrm>
          <a:prstGeom prst="roundRect">
            <a:avLst>
              <a:gd name="adj" fmla="val 268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56" name="Text 48"/>
          <p:cNvSpPr txBox="1"/>
          <p:nvPr/>
        </p:nvSpPr>
        <p:spPr>
          <a:xfrm>
            <a:off x="649224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7" name="Text 49"/>
          <p:cNvSpPr txBox="1"/>
          <p:nvPr/>
        </p:nvSpPr>
        <p:spPr>
          <a:xfrm>
            <a:off x="8119872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licence + services</a:t>
            </a:r>
            <a:endParaRPr lang="en-US" sz="1100" dirty="0"/>
          </a:p>
        </p:txBody>
      </p:sp>
      <p:sp>
        <p:nvSpPr>
          <p:cNvPr id="58" name="Text 50"/>
          <p:cNvSpPr txBox="1"/>
          <p:nvPr/>
        </p:nvSpPr>
        <p:spPr>
          <a:xfrm>
            <a:off x="6492240" y="2103120"/>
            <a:ext cx="15645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59" name="Text 51"/>
          <p:cNvSpPr txBox="1"/>
          <p:nvPr/>
        </p:nvSpPr>
        <p:spPr>
          <a:xfrm>
            <a:off x="6492240" y="2542032"/>
            <a:ext cx="1564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refineries in India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8148218" y="2103120"/>
            <a:ext cx="15645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258.1</a:t>
            </a:r>
            <a:endParaRPr lang="en-US" sz="2800" dirty="0"/>
          </a:p>
        </p:txBody>
      </p:sp>
      <p:sp>
        <p:nvSpPr>
          <p:cNvPr id="61" name="Text 53"/>
          <p:cNvSpPr txBox="1"/>
          <p:nvPr/>
        </p:nvSpPr>
        <p:spPr>
          <a:xfrm>
            <a:off x="8148218" y="2542032"/>
            <a:ext cx="1564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MMTPA capacity, FY25</a:t>
            </a:r>
            <a:endParaRPr lang="en-US" sz="1000" dirty="0"/>
          </a:p>
        </p:txBody>
      </p:sp>
      <p:sp>
        <p:nvSpPr>
          <p:cNvPr id="62" name="Text 54"/>
          <p:cNvSpPr txBox="1"/>
          <p:nvPr/>
        </p:nvSpPr>
        <p:spPr>
          <a:xfrm>
            <a:off x="9804197" y="2103120"/>
            <a:ext cx="15645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309.5</a:t>
            </a:r>
            <a:endParaRPr lang="en-US" sz="2800" dirty="0"/>
          </a:p>
        </p:txBody>
      </p:sp>
      <p:sp>
        <p:nvSpPr>
          <p:cNvPr id="63" name="Text 55"/>
          <p:cNvSpPr txBox="1"/>
          <p:nvPr/>
        </p:nvSpPr>
        <p:spPr>
          <a:xfrm>
            <a:off x="9804197" y="2542032"/>
            <a:ext cx="1564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MMTPA target by 2030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6492240" y="2761488"/>
            <a:ext cx="49679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Ministry of Petroleum &amp; Natural Gas; Rajya Sabha reply, Dec 2025. MRPL alone: 15 MMTPA.</a:t>
            </a:r>
            <a:endParaRPr lang="en-US" sz="800" dirty="0"/>
          </a:p>
        </p:txBody>
      </p:sp>
      <p:sp>
        <p:nvSpPr>
          <p:cNvPr id="65" name="Text 57"/>
          <p:cNvSpPr txBox="1"/>
          <p:nvPr/>
        </p:nvSpPr>
        <p:spPr>
          <a:xfrm>
            <a:off x="6492240" y="3017520"/>
            <a:ext cx="4967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950" dirty="0"/>
          </a:p>
        </p:txBody>
      </p:sp>
      <p:sp>
        <p:nvSpPr>
          <p:cNvPr id="66" name="Shape 58"/>
          <p:cNvSpPr/>
          <p:nvPr/>
        </p:nvSpPr>
        <p:spPr>
          <a:xfrm>
            <a:off x="6492240" y="3255264"/>
            <a:ext cx="2438248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</p:spPr>
      </p:sp>
      <p:sp>
        <p:nvSpPr>
          <p:cNvPr id="67" name="Shape 59"/>
          <p:cNvSpPr/>
          <p:nvPr/>
        </p:nvSpPr>
        <p:spPr>
          <a:xfrm>
            <a:off x="6601968" y="3355848"/>
            <a:ext cx="329184" cy="329184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3438144"/>
            <a:ext cx="164592" cy="164592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7040880" y="3328416"/>
            <a:ext cx="1798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onboarding</a:t>
            </a:r>
            <a:endParaRPr lang="en-US" sz="1150" dirty="0"/>
          </a:p>
        </p:txBody>
      </p:sp>
      <p:sp>
        <p:nvSpPr>
          <p:cNvPr id="70" name="Text 61"/>
          <p:cNvSpPr txBox="1"/>
          <p:nvPr/>
        </p:nvSpPr>
        <p:spPr>
          <a:xfrm>
            <a:off x="7040880" y="3557016"/>
            <a:ext cx="179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2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ingest SOPs, build plant graph</a:t>
            </a:r>
            <a:endParaRPr lang="en-US" sz="800" dirty="0"/>
          </a:p>
        </p:txBody>
      </p:sp>
      <p:sp>
        <p:nvSpPr>
          <p:cNvPr id="71" name="Shape 62"/>
          <p:cNvSpPr/>
          <p:nvPr/>
        </p:nvSpPr>
        <p:spPr>
          <a:xfrm>
            <a:off x="9021928" y="3255264"/>
            <a:ext cx="2438248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</p:spPr>
      </p:sp>
      <p:sp>
        <p:nvSpPr>
          <p:cNvPr id="72" name="Shape 63"/>
          <p:cNvSpPr/>
          <p:nvPr/>
        </p:nvSpPr>
        <p:spPr>
          <a:xfrm>
            <a:off x="9131656" y="3355848"/>
            <a:ext cx="329184" cy="329184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7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3952" y="3438144"/>
            <a:ext cx="164592" cy="164592"/>
          </a:xfrm>
          <a:prstGeom prst="rect">
            <a:avLst/>
          </a:prstGeom>
        </p:spPr>
      </p:pic>
      <p:sp>
        <p:nvSpPr>
          <p:cNvPr id="74" name="Text 64"/>
          <p:cNvSpPr txBox="1"/>
          <p:nvPr/>
        </p:nvSpPr>
        <p:spPr>
          <a:xfrm>
            <a:off x="9570568" y="3328416"/>
            <a:ext cx="1798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site licence</a:t>
            </a:r>
            <a:endParaRPr lang="en-US" sz="1150" dirty="0"/>
          </a:p>
        </p:txBody>
      </p:sp>
      <p:sp>
        <p:nvSpPr>
          <p:cNvPr id="75" name="Text 65"/>
          <p:cNvSpPr txBox="1"/>
          <p:nvPr/>
        </p:nvSpPr>
        <p:spPr>
          <a:xfrm>
            <a:off x="9570568" y="3557016"/>
            <a:ext cx="179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updates, security patches</a:t>
            </a:r>
            <a:endParaRPr lang="en-US" sz="800" dirty="0"/>
          </a:p>
        </p:txBody>
      </p:sp>
      <p:sp>
        <p:nvSpPr>
          <p:cNvPr id="76" name="Shape 66"/>
          <p:cNvSpPr/>
          <p:nvPr/>
        </p:nvSpPr>
        <p:spPr>
          <a:xfrm>
            <a:off x="6492240" y="4023360"/>
            <a:ext cx="2438248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</p:spPr>
      </p:sp>
      <p:sp>
        <p:nvSpPr>
          <p:cNvPr id="77" name="Shape 67"/>
          <p:cNvSpPr/>
          <p:nvPr/>
        </p:nvSpPr>
        <p:spPr>
          <a:xfrm>
            <a:off x="6601968" y="4123944"/>
            <a:ext cx="329184" cy="329184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7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4264" y="4206240"/>
            <a:ext cx="164592" cy="164592"/>
          </a:xfrm>
          <a:prstGeom prst="rect">
            <a:avLst/>
          </a:prstGeom>
        </p:spPr>
      </p:pic>
      <p:sp>
        <p:nvSpPr>
          <p:cNvPr id="79" name="Text 68"/>
          <p:cNvSpPr txBox="1"/>
          <p:nvPr/>
        </p:nvSpPr>
        <p:spPr>
          <a:xfrm>
            <a:off x="7040880" y="4096512"/>
            <a:ext cx="1798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agent packs</a:t>
            </a:r>
            <a:endParaRPr lang="en-US" sz="1150" dirty="0"/>
          </a:p>
        </p:txBody>
      </p:sp>
      <p:sp>
        <p:nvSpPr>
          <p:cNvPr id="80" name="Text 69"/>
          <p:cNvSpPr txBox="1"/>
          <p:nvPr/>
        </p:nvSpPr>
        <p:spPr>
          <a:xfrm>
            <a:off x="7040880" y="4325112"/>
            <a:ext cx="179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2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Inspection, compliance, maintenance</a:t>
            </a:r>
            <a:endParaRPr lang="en-US" sz="800" dirty="0"/>
          </a:p>
        </p:txBody>
      </p:sp>
      <p:sp>
        <p:nvSpPr>
          <p:cNvPr id="81" name="Shape 70"/>
          <p:cNvSpPr/>
          <p:nvPr/>
        </p:nvSpPr>
        <p:spPr>
          <a:xfrm>
            <a:off x="9021928" y="4023360"/>
            <a:ext cx="2438248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</p:spPr>
      </p:sp>
      <p:sp>
        <p:nvSpPr>
          <p:cNvPr id="82" name="Shape 71"/>
          <p:cNvSpPr/>
          <p:nvPr/>
        </p:nvSpPr>
        <p:spPr>
          <a:xfrm>
            <a:off x="9131656" y="4123944"/>
            <a:ext cx="329184" cy="329184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8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3952" y="4206240"/>
            <a:ext cx="164592" cy="164592"/>
          </a:xfrm>
          <a:prstGeom prst="rect">
            <a:avLst/>
          </a:prstGeom>
        </p:spPr>
      </p:pic>
      <p:sp>
        <p:nvSpPr>
          <p:cNvPr id="84" name="Text 72"/>
          <p:cNvSpPr txBox="1"/>
          <p:nvPr/>
        </p:nvSpPr>
        <p:spPr>
          <a:xfrm>
            <a:off x="9570568" y="4096512"/>
            <a:ext cx="1798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training</a:t>
            </a:r>
            <a:endParaRPr lang="en-US" sz="1150" dirty="0"/>
          </a:p>
        </p:txBody>
      </p:sp>
      <p:sp>
        <p:nvSpPr>
          <p:cNvPr id="85" name="Text 73"/>
          <p:cNvSpPr txBox="1"/>
          <p:nvPr/>
        </p:nvSpPr>
        <p:spPr>
          <a:xfrm>
            <a:off x="9570568" y="4325112"/>
            <a:ext cx="1798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 </a:t>
            </a:r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AMC, operator training, model upgrades</a:t>
            </a:r>
            <a:endParaRPr lang="en-US" sz="800" dirty="0"/>
          </a:p>
        </p:txBody>
      </p:sp>
      <p:sp>
        <p:nvSpPr>
          <p:cNvPr id="86" name="Text 74"/>
          <p:cNvSpPr txBox="1"/>
          <p:nvPr/>
        </p:nvSpPr>
        <p:spPr>
          <a:xfrm>
            <a:off x="6492240" y="4809744"/>
            <a:ext cx="4967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50" dirty="0"/>
          </a:p>
        </p:txBody>
      </p:sp>
      <p:sp>
        <p:nvSpPr>
          <p:cNvPr id="87" name="Shape 75"/>
          <p:cNvSpPr/>
          <p:nvPr/>
        </p:nvSpPr>
        <p:spPr>
          <a:xfrm>
            <a:off x="6492240" y="5047488"/>
            <a:ext cx="1473098" cy="548640"/>
          </a:xfrm>
          <a:prstGeom prst="roundRect">
            <a:avLst>
              <a:gd name="adj" fmla="val 11667"/>
            </a:avLst>
          </a:prstGeom>
          <a:solidFill>
            <a:srgbClr val="17345C"/>
          </a:solidFill>
          <a:ln/>
        </p:spPr>
      </p:sp>
      <p:pic>
        <p:nvPicPr>
          <p:cNvPr id="8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1968" y="5157216"/>
            <a:ext cx="182880" cy="182880"/>
          </a:xfrm>
          <a:prstGeom prst="rect">
            <a:avLst/>
          </a:prstGeom>
        </p:spPr>
      </p:pic>
      <p:sp>
        <p:nvSpPr>
          <p:cNvPr id="89" name="Text 76"/>
          <p:cNvSpPr txBox="1"/>
          <p:nvPr/>
        </p:nvSpPr>
        <p:spPr>
          <a:xfrm>
            <a:off x="6858000" y="5120640"/>
            <a:ext cx="10158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 dirty="0"/>
          </a:p>
        </p:txBody>
      </p:sp>
      <p:sp>
        <p:nvSpPr>
          <p:cNvPr id="90" name="Text 77"/>
          <p:cNvSpPr txBox="1"/>
          <p:nvPr/>
        </p:nvSpPr>
        <p:spPr>
          <a:xfrm>
            <a:off x="6601968" y="5376672"/>
            <a:ext cx="1290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MRPL, Mangaluru</a:t>
            </a:r>
            <a:endParaRPr lang="en-US" sz="900" dirty="0"/>
          </a:p>
        </p:txBody>
      </p:sp>
      <p:pic>
        <p:nvPicPr>
          <p:cNvPr id="9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8490" y="5257800"/>
            <a:ext cx="128016" cy="128016"/>
          </a:xfrm>
          <a:prstGeom prst="rect">
            <a:avLst/>
          </a:prstGeom>
        </p:spPr>
      </p:pic>
      <p:sp>
        <p:nvSpPr>
          <p:cNvPr id="92" name="Shape 78"/>
          <p:cNvSpPr/>
          <p:nvPr/>
        </p:nvSpPr>
        <p:spPr>
          <a:xfrm>
            <a:off x="8239658" y="5047488"/>
            <a:ext cx="1473098" cy="548640"/>
          </a:xfrm>
          <a:prstGeom prst="roundRect">
            <a:avLst>
              <a:gd name="adj" fmla="val 11667"/>
            </a:avLst>
          </a:prstGeom>
          <a:solidFill>
            <a:srgbClr val="17345C"/>
          </a:solidFill>
          <a:ln/>
        </p:spPr>
      </p:sp>
      <p:pic>
        <p:nvPicPr>
          <p:cNvPr id="9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9386" y="5157216"/>
            <a:ext cx="182880" cy="182880"/>
          </a:xfrm>
          <a:prstGeom prst="rect">
            <a:avLst/>
          </a:prstGeom>
        </p:spPr>
      </p:pic>
      <p:sp>
        <p:nvSpPr>
          <p:cNvPr id="94" name="Text 79"/>
          <p:cNvSpPr txBox="1"/>
          <p:nvPr/>
        </p:nvSpPr>
        <p:spPr>
          <a:xfrm>
            <a:off x="8605418" y="5120640"/>
            <a:ext cx="10158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95" name="Text 80"/>
          <p:cNvSpPr txBox="1"/>
          <p:nvPr/>
        </p:nvSpPr>
        <p:spPr>
          <a:xfrm>
            <a:off x="8349386" y="5376672"/>
            <a:ext cx="1290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ONGC group &amp; PSUs</a:t>
            </a:r>
            <a:endParaRPr lang="en-US" sz="900" dirty="0"/>
          </a:p>
        </p:txBody>
      </p:sp>
      <p:pic>
        <p:nvPicPr>
          <p:cNvPr id="9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5909" y="5257800"/>
            <a:ext cx="128016" cy="128016"/>
          </a:xfrm>
          <a:prstGeom prst="rect">
            <a:avLst/>
          </a:prstGeom>
        </p:spPr>
      </p:pic>
      <p:sp>
        <p:nvSpPr>
          <p:cNvPr id="97" name="Shape 81"/>
          <p:cNvSpPr/>
          <p:nvPr/>
        </p:nvSpPr>
        <p:spPr>
          <a:xfrm>
            <a:off x="9987077" y="5047488"/>
            <a:ext cx="1473098" cy="548640"/>
          </a:xfrm>
          <a:prstGeom prst="roundRect">
            <a:avLst>
              <a:gd name="adj" fmla="val 11667"/>
            </a:avLst>
          </a:prstGeom>
          <a:solidFill>
            <a:srgbClr val="17345C"/>
          </a:solidFill>
          <a:ln/>
        </p:spPr>
      </p:sp>
      <p:pic>
        <p:nvPicPr>
          <p:cNvPr id="9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96805" y="5157216"/>
            <a:ext cx="182880" cy="182880"/>
          </a:xfrm>
          <a:prstGeom prst="rect">
            <a:avLst/>
          </a:prstGeom>
        </p:spPr>
      </p:pic>
      <p:sp>
        <p:nvSpPr>
          <p:cNvPr id="99" name="Text 82"/>
          <p:cNvSpPr txBox="1"/>
          <p:nvPr/>
        </p:nvSpPr>
        <p:spPr>
          <a:xfrm>
            <a:off x="10352837" y="5120640"/>
            <a:ext cx="10158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200" dirty="0"/>
          </a:p>
        </p:txBody>
      </p:sp>
      <p:sp>
        <p:nvSpPr>
          <p:cNvPr id="100" name="Text 83"/>
          <p:cNvSpPr txBox="1"/>
          <p:nvPr/>
        </p:nvSpPr>
        <p:spPr>
          <a:xfrm>
            <a:off x="10096805" y="5376672"/>
            <a:ext cx="1290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Petrochem, fertiliser, power</a:t>
            </a:r>
            <a:endParaRPr lang="en-US" sz="900" dirty="0"/>
          </a:p>
        </p:txBody>
      </p:sp>
      <p:sp>
        <p:nvSpPr>
          <p:cNvPr id="101" name="Shape 84"/>
          <p:cNvSpPr/>
          <p:nvPr/>
        </p:nvSpPr>
        <p:spPr>
          <a:xfrm>
            <a:off x="6492240" y="5742432"/>
            <a:ext cx="4967935" cy="475488"/>
          </a:xfrm>
          <a:prstGeom prst="roundRect">
            <a:avLst>
              <a:gd name="adj" fmla="val 13462"/>
            </a:avLst>
          </a:prstGeom>
          <a:solidFill>
            <a:srgbClr val="0E8C7F"/>
          </a:solidFill>
          <a:ln/>
        </p:spPr>
      </p:sp>
      <p:sp>
        <p:nvSpPr>
          <p:cNvPr id="102" name="Text 85"/>
          <p:cNvSpPr txBox="1"/>
          <p:nvPr/>
        </p:nvSpPr>
        <p:spPr>
          <a:xfrm>
            <a:off x="6675120" y="5742432"/>
            <a:ext cx="4693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buy: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bills · data stays in-plant · runs on owned hardware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Feasibility, Viability &amp; Business Model</dc:title>
  <dc:subject>PptxGenJS Presentation</dc:subject>
  <dc:creator>PptxGenJS</dc:creator>
  <cp:lastModifiedBy>PptxGenJS</cp:lastModifiedBy>
  <cp:revision>1</cp:revision>
  <dcterms:created xsi:type="dcterms:W3CDTF">2026-09-16T05:02:17Z</dcterms:created>
  <dcterms:modified xsi:type="dcterms:W3CDTF">2026-09-16T05:02:17Z</dcterms:modified>
</cp:coreProperties>
</file>