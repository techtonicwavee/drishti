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(point to the left column): MRPL runs on documents — SOPs, manuals, P&amp;IDs, inspection reports. Six problems stop AI from helping today.
The biggest one is at the top: this data is confidential, so cloud AI like ChatGPT is simply not allowed.
On top of that the knowledge is fragmented, much of it isn't even text — scans, drawings, handwritten notes — it depends on a few experts, routine work is slow, and any AI answer must be trustworthy enough for engineering decisions.
PIVOT (point to the centre): Drishti is a secure AI workbench that runs entirely inside MRPL. Your data, your models, your AI.
SOLUTION (walk across each row, left to right): every challenge maps to one capability —
on-prem deployment for confidentiality, hybrid local RAG for fragmented data, multimodal vision for scans and P&amp;IDs, agents that capture expert workflows, automated execution for routine work, and cited, audit-logged answers for trust.
CLOSE (point to the bottom): the result — sovereign data, faster decisions, higher productivity, preserved knowledge, and safer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POPEYE  ·  SIH26117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Solution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33856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Refinery knowledge can’t leave MRPL — </a:t>
            </a:r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Drishti brings the AI to the data.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475488"/>
            <a:ext cx="1901952" cy="566928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301752"/>
            <a:ext cx="1947672" cy="7772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1645920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7573975" y="1645920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DRISHTI DELIVERS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074920" y="1965960"/>
            <a:ext cx="2041855" cy="3858768"/>
          </a:xfrm>
          <a:prstGeom prst="roundRect">
            <a:avLst>
              <a:gd name="adj" fmla="val 8061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638648" y="2331720"/>
            <a:ext cx="914400" cy="914400"/>
          </a:xfrm>
          <a:prstGeom prst="ellipse">
            <a:avLst/>
          </a:prstGeom>
          <a:solidFill>
            <a:srgbClr val="0E8C7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672" y="2523744"/>
            <a:ext cx="530352" cy="53035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074920" y="3383280"/>
            <a:ext cx="2041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DRISHTI</a:t>
            </a:r>
            <a:endParaRPr lang="en-US" sz="2600" dirty="0"/>
          </a:p>
        </p:txBody>
      </p:sp>
      <p:sp>
        <p:nvSpPr>
          <p:cNvPr id="13" name="Text 8"/>
          <p:cNvSpPr txBox="1"/>
          <p:nvPr/>
        </p:nvSpPr>
        <p:spPr>
          <a:xfrm>
            <a:off x="5074920" y="3822192"/>
            <a:ext cx="2041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AI Workbench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5074920" y="4343400"/>
            <a:ext cx="20418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7FD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i="1" dirty="0">
                <a:solidFill>
                  <a:srgbClr val="7FD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Models.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i="1" dirty="0">
                <a:solidFill>
                  <a:srgbClr val="7FD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AI.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5166360" y="5394960"/>
            <a:ext cx="1858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→ INTELLIGENCE → ACTION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457200" y="1965960"/>
            <a:ext cx="4160520" cy="566928"/>
          </a:xfrm>
          <a:prstGeom prst="roundRect">
            <a:avLst>
              <a:gd name="adj" fmla="val 12903"/>
            </a:avLst>
          </a:prstGeom>
          <a:solidFill>
            <a:srgbClr val="F3F5F8"/>
          </a:solidFill>
          <a:ln/>
        </p:spPr>
      </p:sp>
      <p:sp>
        <p:nvSpPr>
          <p:cNvPr id="17" name="Shape 12"/>
          <p:cNvSpPr/>
          <p:nvPr/>
        </p:nvSpPr>
        <p:spPr>
          <a:xfrm>
            <a:off x="585216" y="2057400"/>
            <a:ext cx="384048" cy="384048"/>
          </a:xfrm>
          <a:prstGeom prst="ellipse">
            <a:avLst/>
          </a:prstGeom>
          <a:solidFill>
            <a:srgbClr val="FBE9E7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" y="2153412"/>
            <a:ext cx="192024" cy="19202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97280" y="202996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Data</a:t>
            </a:r>
            <a:endParaRPr lang="en-US" sz="1350" dirty="0"/>
          </a:p>
        </p:txBody>
      </p:sp>
      <p:sp>
        <p:nvSpPr>
          <p:cNvPr id="20" name="Text 14"/>
          <p:cNvSpPr txBox="1"/>
          <p:nvPr/>
        </p:nvSpPr>
        <p:spPr>
          <a:xfrm>
            <a:off x="1097280" y="226771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SOPs, P&amp;IDs and reports cannot go to cloud AI</a:t>
            </a:r>
            <a:endParaRPr lang="en-US" sz="105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2176272"/>
            <a:ext cx="146304" cy="146304"/>
          </a:xfrm>
          <a:prstGeom prst="rect">
            <a:avLst/>
          </a:prstGeom>
        </p:spPr>
      </p:pic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2223" y="2176272"/>
            <a:ext cx="146304" cy="146304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7573975" y="1965960"/>
            <a:ext cx="4160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19050" dir="5400000">
              <a:srgbClr val="0B1F3A">
                <a:alpha val="12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7701991" y="2057400"/>
            <a:ext cx="384048" cy="384048"/>
          </a:xfrm>
          <a:prstGeom prst="ellipse">
            <a:avLst/>
          </a:prstGeom>
          <a:solidFill>
            <a:srgbClr val="0E8C7F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3431" y="2148840"/>
            <a:ext cx="201168" cy="201168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8214055" y="202996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Deployment</a:t>
            </a:r>
            <a:endParaRPr lang="en-US" sz="1350" dirty="0"/>
          </a:p>
        </p:txBody>
      </p:sp>
      <p:sp>
        <p:nvSpPr>
          <p:cNvPr id="27" name="Text 18"/>
          <p:cNvSpPr txBox="1"/>
          <p:nvPr/>
        </p:nvSpPr>
        <p:spPr>
          <a:xfrm>
            <a:off x="8214055" y="226771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100% on MRPL servers · zero external API calls</a:t>
            </a:r>
            <a:endParaRPr lang="en-US" sz="1050" dirty="0"/>
          </a:p>
        </p:txBody>
      </p:sp>
      <p:sp>
        <p:nvSpPr>
          <p:cNvPr id="28" name="Shape 19"/>
          <p:cNvSpPr/>
          <p:nvPr/>
        </p:nvSpPr>
        <p:spPr>
          <a:xfrm>
            <a:off x="457200" y="2624328"/>
            <a:ext cx="4160520" cy="566928"/>
          </a:xfrm>
          <a:prstGeom prst="roundRect">
            <a:avLst>
              <a:gd name="adj" fmla="val 12903"/>
            </a:avLst>
          </a:prstGeom>
          <a:solidFill>
            <a:srgbClr val="F3F5F8"/>
          </a:solidFill>
          <a:ln/>
        </p:spPr>
      </p:sp>
      <p:sp>
        <p:nvSpPr>
          <p:cNvPr id="29" name="Shape 20"/>
          <p:cNvSpPr/>
          <p:nvPr/>
        </p:nvSpPr>
        <p:spPr>
          <a:xfrm>
            <a:off x="585216" y="2715768"/>
            <a:ext cx="384048" cy="384048"/>
          </a:xfrm>
          <a:prstGeom prst="ellipse">
            <a:avLst/>
          </a:prstGeom>
          <a:solidFill>
            <a:srgbClr val="FBE9E7"/>
          </a:solidFill>
          <a:ln/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228" y="2811780"/>
            <a:ext cx="192024" cy="192024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1097280" y="268833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Information</a:t>
            </a:r>
            <a:endParaRPr lang="en-US" sz="1350" dirty="0"/>
          </a:p>
        </p:txBody>
      </p:sp>
      <p:sp>
        <p:nvSpPr>
          <p:cNvPr id="32" name="Text 22"/>
          <p:cNvSpPr txBox="1"/>
          <p:nvPr/>
        </p:nvSpPr>
        <p:spPr>
          <a:xfrm>
            <a:off x="1097280" y="292608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scattered across files, sheets and records</a:t>
            </a:r>
            <a:endParaRPr lang="en-US" sz="105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73168" y="2834640"/>
            <a:ext cx="146304" cy="146304"/>
          </a:xfrm>
          <a:prstGeom prst="rect">
            <a:avLst/>
          </a:prstGeom>
        </p:spPr>
      </p:pic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72223" y="2834640"/>
            <a:ext cx="146304" cy="146304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7573975" y="2624328"/>
            <a:ext cx="4160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19050" dir="5400000">
              <a:srgbClr val="0B1F3A">
                <a:alpha val="12000"/>
              </a:srgbClr>
            </a:outerShdw>
          </a:effectLst>
        </p:spPr>
      </p:sp>
      <p:sp>
        <p:nvSpPr>
          <p:cNvPr id="36" name="Shape 24"/>
          <p:cNvSpPr/>
          <p:nvPr/>
        </p:nvSpPr>
        <p:spPr>
          <a:xfrm>
            <a:off x="7701991" y="2715768"/>
            <a:ext cx="384048" cy="384048"/>
          </a:xfrm>
          <a:prstGeom prst="ellipse">
            <a:avLst/>
          </a:prstGeom>
          <a:solidFill>
            <a:srgbClr val="0E8C7F"/>
          </a:solidFill>
          <a:ln/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93431" y="2807208"/>
            <a:ext cx="201168" cy="201168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8214055" y="268833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Local RAG</a:t>
            </a:r>
            <a:endParaRPr lang="en-US" sz="1350" dirty="0"/>
          </a:p>
        </p:txBody>
      </p:sp>
      <p:sp>
        <p:nvSpPr>
          <p:cNvPr id="39" name="Text 26"/>
          <p:cNvSpPr txBox="1"/>
          <p:nvPr/>
        </p:nvSpPr>
        <p:spPr>
          <a:xfrm>
            <a:off x="8214055" y="292608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search across SOPs, manuals, reports and data</a:t>
            </a:r>
            <a:endParaRPr lang="en-US" sz="1050" dirty="0"/>
          </a:p>
        </p:txBody>
      </p:sp>
      <p:sp>
        <p:nvSpPr>
          <p:cNvPr id="40" name="Shape 27"/>
          <p:cNvSpPr/>
          <p:nvPr/>
        </p:nvSpPr>
        <p:spPr>
          <a:xfrm>
            <a:off x="457200" y="3282696"/>
            <a:ext cx="4160520" cy="566928"/>
          </a:xfrm>
          <a:prstGeom prst="roundRect">
            <a:avLst>
              <a:gd name="adj" fmla="val 12903"/>
            </a:avLst>
          </a:prstGeom>
          <a:solidFill>
            <a:srgbClr val="F3F5F8"/>
          </a:solidFill>
          <a:ln/>
        </p:spPr>
      </p:sp>
      <p:sp>
        <p:nvSpPr>
          <p:cNvPr id="41" name="Shape 28"/>
          <p:cNvSpPr/>
          <p:nvPr/>
        </p:nvSpPr>
        <p:spPr>
          <a:xfrm>
            <a:off x="585216" y="3374136"/>
            <a:ext cx="384048" cy="384048"/>
          </a:xfrm>
          <a:prstGeom prst="ellipse">
            <a:avLst/>
          </a:prstGeom>
          <a:solidFill>
            <a:srgbClr val="FBE9E7"/>
          </a:solidFill>
          <a:ln/>
        </p:spPr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1228" y="3470148"/>
            <a:ext cx="192024" cy="192024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1097280" y="334670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Text</a:t>
            </a:r>
            <a:endParaRPr lang="en-US" sz="1350" dirty="0"/>
          </a:p>
        </p:txBody>
      </p:sp>
      <p:sp>
        <p:nvSpPr>
          <p:cNvPr id="44" name="Text 30"/>
          <p:cNvSpPr txBox="1"/>
          <p:nvPr/>
        </p:nvSpPr>
        <p:spPr>
          <a:xfrm>
            <a:off x="1097280" y="35844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Scans, handwritten notes, drawings and P&amp;IDs</a:t>
            </a:r>
            <a:endParaRPr lang="en-US" sz="1050" dirty="0"/>
          </a:p>
        </p:txBody>
      </p:sp>
      <p:pic>
        <p:nvPicPr>
          <p:cNvPr id="4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73168" y="3493008"/>
            <a:ext cx="146304" cy="146304"/>
          </a:xfrm>
          <a:prstGeom prst="rect">
            <a:avLst/>
          </a:prstGeom>
        </p:spPr>
      </p:pic>
      <p:pic>
        <p:nvPicPr>
          <p:cNvPr id="4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72223" y="3493008"/>
            <a:ext cx="146304" cy="146304"/>
          </a:xfrm>
          <a:prstGeom prst="rect">
            <a:avLst/>
          </a:prstGeom>
        </p:spPr>
      </p:pic>
      <p:sp>
        <p:nvSpPr>
          <p:cNvPr id="47" name="Shape 31"/>
          <p:cNvSpPr/>
          <p:nvPr/>
        </p:nvSpPr>
        <p:spPr>
          <a:xfrm>
            <a:off x="7573975" y="3282696"/>
            <a:ext cx="4160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19050" dir="5400000">
              <a:srgbClr val="0B1F3A">
                <a:alpha val="12000"/>
              </a:srgbClr>
            </a:outerShdw>
          </a:effectLst>
        </p:spPr>
      </p:sp>
      <p:sp>
        <p:nvSpPr>
          <p:cNvPr id="48" name="Shape 32"/>
          <p:cNvSpPr/>
          <p:nvPr/>
        </p:nvSpPr>
        <p:spPr>
          <a:xfrm>
            <a:off x="7701991" y="3374136"/>
            <a:ext cx="384048" cy="384048"/>
          </a:xfrm>
          <a:prstGeom prst="ellipse">
            <a:avLst/>
          </a:prstGeom>
          <a:solidFill>
            <a:srgbClr val="0E8C7F"/>
          </a:solidFill>
          <a:ln/>
        </p:spPr>
      </p:sp>
      <p:pic>
        <p:nvPicPr>
          <p:cNvPr id="4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93431" y="3465576"/>
            <a:ext cx="201168" cy="201168"/>
          </a:xfrm>
          <a:prstGeom prst="rect">
            <a:avLst/>
          </a:prstGeom>
        </p:spPr>
      </p:pic>
      <p:sp>
        <p:nvSpPr>
          <p:cNvPr id="50" name="Text 33"/>
          <p:cNvSpPr txBox="1"/>
          <p:nvPr/>
        </p:nvSpPr>
        <p:spPr>
          <a:xfrm>
            <a:off x="8214055" y="334670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Vision AI</a:t>
            </a:r>
            <a:endParaRPr lang="en-US" sz="1350" dirty="0"/>
          </a:p>
        </p:txBody>
      </p:sp>
      <p:sp>
        <p:nvSpPr>
          <p:cNvPr id="51" name="Text 34"/>
          <p:cNvSpPr txBox="1"/>
          <p:nvPr/>
        </p:nvSpPr>
        <p:spPr>
          <a:xfrm>
            <a:off x="8214055" y="35844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scanned pages, P&amp;IDs and inspection images</a:t>
            </a:r>
            <a:endParaRPr lang="en-US" sz="1050" dirty="0"/>
          </a:p>
        </p:txBody>
      </p:sp>
      <p:sp>
        <p:nvSpPr>
          <p:cNvPr id="52" name="Shape 35"/>
          <p:cNvSpPr/>
          <p:nvPr/>
        </p:nvSpPr>
        <p:spPr>
          <a:xfrm>
            <a:off x="457200" y="3941064"/>
            <a:ext cx="4160520" cy="566928"/>
          </a:xfrm>
          <a:prstGeom prst="roundRect">
            <a:avLst>
              <a:gd name="adj" fmla="val 12903"/>
            </a:avLst>
          </a:prstGeom>
          <a:solidFill>
            <a:srgbClr val="F3F5F8"/>
          </a:solidFill>
          <a:ln/>
        </p:spPr>
      </p:sp>
      <p:sp>
        <p:nvSpPr>
          <p:cNvPr id="53" name="Shape 36"/>
          <p:cNvSpPr/>
          <p:nvPr/>
        </p:nvSpPr>
        <p:spPr>
          <a:xfrm>
            <a:off x="585216" y="4032504"/>
            <a:ext cx="384048" cy="384048"/>
          </a:xfrm>
          <a:prstGeom prst="ellipse">
            <a:avLst/>
          </a:prstGeom>
          <a:solidFill>
            <a:srgbClr val="FBE9E7"/>
          </a:solidFill>
          <a:ln/>
        </p:spPr>
      </p:sp>
      <p:pic>
        <p:nvPicPr>
          <p:cNvPr id="5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1228" y="4128516"/>
            <a:ext cx="192024" cy="192024"/>
          </a:xfrm>
          <a:prstGeom prst="rect">
            <a:avLst/>
          </a:prstGeom>
        </p:spPr>
      </p:pic>
      <p:sp>
        <p:nvSpPr>
          <p:cNvPr id="55" name="Text 37"/>
          <p:cNvSpPr txBox="1"/>
          <p:nvPr/>
        </p:nvSpPr>
        <p:spPr>
          <a:xfrm>
            <a:off x="1097280" y="400507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Expert-Dependent Knowledge</a:t>
            </a:r>
            <a:endParaRPr lang="en-US" sz="1350" dirty="0"/>
          </a:p>
        </p:txBody>
      </p:sp>
      <p:sp>
        <p:nvSpPr>
          <p:cNvPr id="56" name="Text 38"/>
          <p:cNvSpPr txBox="1"/>
          <p:nvPr/>
        </p:nvSpPr>
        <p:spPr>
          <a:xfrm>
            <a:off x="1097280" y="424281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know-how lives with a few senior engineers</a:t>
            </a:r>
            <a:endParaRPr lang="en-US" sz="1050" dirty="0"/>
          </a:p>
        </p:txBody>
      </p:sp>
      <p:pic>
        <p:nvPicPr>
          <p:cNvPr id="57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73168" y="4151376"/>
            <a:ext cx="146304" cy="146304"/>
          </a:xfrm>
          <a:prstGeom prst="rect">
            <a:avLst/>
          </a:prstGeom>
        </p:spPr>
      </p:pic>
      <p:pic>
        <p:nvPicPr>
          <p:cNvPr id="5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72223" y="4151376"/>
            <a:ext cx="146304" cy="146304"/>
          </a:xfrm>
          <a:prstGeom prst="rect">
            <a:avLst/>
          </a:prstGeom>
        </p:spPr>
      </p:pic>
      <p:sp>
        <p:nvSpPr>
          <p:cNvPr id="59" name="Shape 39"/>
          <p:cNvSpPr/>
          <p:nvPr/>
        </p:nvSpPr>
        <p:spPr>
          <a:xfrm>
            <a:off x="7573975" y="3941064"/>
            <a:ext cx="4160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19050" dir="5400000">
              <a:srgbClr val="0B1F3A">
                <a:alpha val="12000"/>
              </a:srgbClr>
            </a:outerShdw>
          </a:effectLst>
        </p:spPr>
      </p:sp>
      <p:sp>
        <p:nvSpPr>
          <p:cNvPr id="60" name="Shape 40"/>
          <p:cNvSpPr/>
          <p:nvPr/>
        </p:nvSpPr>
        <p:spPr>
          <a:xfrm>
            <a:off x="7701991" y="4032504"/>
            <a:ext cx="384048" cy="384048"/>
          </a:xfrm>
          <a:prstGeom prst="ellipse">
            <a:avLst/>
          </a:prstGeom>
          <a:solidFill>
            <a:srgbClr val="0E8C7F"/>
          </a:solidFill>
          <a:ln/>
        </p:spPr>
      </p:sp>
      <p:pic>
        <p:nvPicPr>
          <p:cNvPr id="6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793431" y="4123944"/>
            <a:ext cx="201168" cy="201168"/>
          </a:xfrm>
          <a:prstGeom prst="rect">
            <a:avLst/>
          </a:prstGeom>
        </p:spPr>
      </p:pic>
      <p:sp>
        <p:nvSpPr>
          <p:cNvPr id="62" name="Text 41"/>
          <p:cNvSpPr txBox="1"/>
          <p:nvPr/>
        </p:nvSpPr>
        <p:spPr>
          <a:xfrm>
            <a:off x="8214055" y="400507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Workbench</a:t>
            </a:r>
            <a:endParaRPr lang="en-US" sz="1350" dirty="0"/>
          </a:p>
        </p:txBody>
      </p:sp>
      <p:sp>
        <p:nvSpPr>
          <p:cNvPr id="63" name="Text 42"/>
          <p:cNvSpPr txBox="1"/>
          <p:nvPr/>
        </p:nvSpPr>
        <p:spPr>
          <a:xfrm>
            <a:off x="8214055" y="424281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 agents plan and execute multi-step tasks</a:t>
            </a:r>
            <a:endParaRPr lang="en-US" sz="1050" dirty="0"/>
          </a:p>
        </p:txBody>
      </p:sp>
      <p:sp>
        <p:nvSpPr>
          <p:cNvPr id="64" name="Shape 43"/>
          <p:cNvSpPr/>
          <p:nvPr/>
        </p:nvSpPr>
        <p:spPr>
          <a:xfrm>
            <a:off x="457200" y="4599432"/>
            <a:ext cx="4160520" cy="566928"/>
          </a:xfrm>
          <a:prstGeom prst="roundRect">
            <a:avLst>
              <a:gd name="adj" fmla="val 12903"/>
            </a:avLst>
          </a:prstGeom>
          <a:solidFill>
            <a:srgbClr val="F3F5F8"/>
          </a:solidFill>
          <a:ln/>
        </p:spPr>
      </p:sp>
      <p:sp>
        <p:nvSpPr>
          <p:cNvPr id="65" name="Shape 44"/>
          <p:cNvSpPr/>
          <p:nvPr/>
        </p:nvSpPr>
        <p:spPr>
          <a:xfrm>
            <a:off x="585216" y="4690872"/>
            <a:ext cx="384048" cy="384048"/>
          </a:xfrm>
          <a:prstGeom prst="ellipse">
            <a:avLst/>
          </a:prstGeom>
          <a:solidFill>
            <a:srgbClr val="FBE9E7"/>
          </a:solidFill>
          <a:ln/>
        </p:spPr>
      </p:sp>
      <p:pic>
        <p:nvPicPr>
          <p:cNvPr id="66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1228" y="4786884"/>
            <a:ext cx="192024" cy="192024"/>
          </a:xfrm>
          <a:prstGeom prst="rect">
            <a:avLst/>
          </a:prstGeom>
        </p:spPr>
      </p:pic>
      <p:sp>
        <p:nvSpPr>
          <p:cNvPr id="67" name="Text 45"/>
          <p:cNvSpPr txBox="1"/>
          <p:nvPr/>
        </p:nvSpPr>
        <p:spPr>
          <a:xfrm>
            <a:off x="1097280" y="466344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Routine Work</a:t>
            </a:r>
            <a:endParaRPr lang="en-US" sz="1350" dirty="0"/>
          </a:p>
        </p:txBody>
      </p:sp>
      <p:sp>
        <p:nvSpPr>
          <p:cNvPr id="68" name="Text 46"/>
          <p:cNvSpPr txBox="1"/>
          <p:nvPr/>
        </p:nvSpPr>
        <p:spPr>
          <a:xfrm>
            <a:off x="1097280" y="490118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Reviews, calculations and reports consume engineer hours</a:t>
            </a:r>
            <a:endParaRPr lang="en-US" sz="1050" dirty="0"/>
          </a:p>
        </p:txBody>
      </p:sp>
      <p:pic>
        <p:nvPicPr>
          <p:cNvPr id="69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773168" y="4809744"/>
            <a:ext cx="146304" cy="146304"/>
          </a:xfrm>
          <a:prstGeom prst="rect">
            <a:avLst/>
          </a:prstGeom>
        </p:spPr>
      </p:pic>
      <p:pic>
        <p:nvPicPr>
          <p:cNvPr id="70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272223" y="4809744"/>
            <a:ext cx="146304" cy="146304"/>
          </a:xfrm>
          <a:prstGeom prst="rect">
            <a:avLst/>
          </a:prstGeom>
        </p:spPr>
      </p:pic>
      <p:sp>
        <p:nvSpPr>
          <p:cNvPr id="71" name="Shape 47"/>
          <p:cNvSpPr/>
          <p:nvPr/>
        </p:nvSpPr>
        <p:spPr>
          <a:xfrm>
            <a:off x="7573975" y="4599432"/>
            <a:ext cx="4160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19050" dir="5400000">
              <a:srgbClr val="0B1F3A">
                <a:alpha val="12000"/>
              </a:srgbClr>
            </a:outerShdw>
          </a:effectLst>
        </p:spPr>
      </p:sp>
      <p:sp>
        <p:nvSpPr>
          <p:cNvPr id="72" name="Shape 48"/>
          <p:cNvSpPr/>
          <p:nvPr/>
        </p:nvSpPr>
        <p:spPr>
          <a:xfrm>
            <a:off x="7701991" y="4690872"/>
            <a:ext cx="384048" cy="384048"/>
          </a:xfrm>
          <a:prstGeom prst="ellipse">
            <a:avLst/>
          </a:prstGeom>
          <a:solidFill>
            <a:srgbClr val="0E8C7F"/>
          </a:solidFill>
          <a:ln/>
        </p:spPr>
      </p:sp>
      <p:pic>
        <p:nvPicPr>
          <p:cNvPr id="73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793431" y="4782312"/>
            <a:ext cx="201168" cy="201168"/>
          </a:xfrm>
          <a:prstGeom prst="rect">
            <a:avLst/>
          </a:prstGeom>
        </p:spPr>
      </p:pic>
      <p:sp>
        <p:nvSpPr>
          <p:cNvPr id="74" name="Text 49"/>
          <p:cNvSpPr txBox="1"/>
          <p:nvPr/>
        </p:nvSpPr>
        <p:spPr>
          <a:xfrm>
            <a:off x="8214055" y="466344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Execution</a:t>
            </a:r>
            <a:endParaRPr lang="en-US" sz="1350" dirty="0"/>
          </a:p>
        </p:txBody>
      </p:sp>
      <p:sp>
        <p:nvSpPr>
          <p:cNvPr id="75" name="Text 50"/>
          <p:cNvSpPr txBox="1"/>
          <p:nvPr/>
        </p:nvSpPr>
        <p:spPr>
          <a:xfrm>
            <a:off x="8214055" y="490118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reviews, calculations and report drafts</a:t>
            </a:r>
            <a:endParaRPr lang="en-US" sz="1050" dirty="0"/>
          </a:p>
        </p:txBody>
      </p:sp>
      <p:sp>
        <p:nvSpPr>
          <p:cNvPr id="76" name="Shape 51"/>
          <p:cNvSpPr/>
          <p:nvPr/>
        </p:nvSpPr>
        <p:spPr>
          <a:xfrm>
            <a:off x="457200" y="5257800"/>
            <a:ext cx="4160520" cy="566928"/>
          </a:xfrm>
          <a:prstGeom prst="roundRect">
            <a:avLst>
              <a:gd name="adj" fmla="val 12903"/>
            </a:avLst>
          </a:prstGeom>
          <a:solidFill>
            <a:srgbClr val="F3F5F8"/>
          </a:solidFill>
          <a:ln/>
        </p:spPr>
      </p:sp>
      <p:sp>
        <p:nvSpPr>
          <p:cNvPr id="77" name="Shape 52"/>
          <p:cNvSpPr/>
          <p:nvPr/>
        </p:nvSpPr>
        <p:spPr>
          <a:xfrm>
            <a:off x="585216" y="5349240"/>
            <a:ext cx="384048" cy="384048"/>
          </a:xfrm>
          <a:prstGeom prst="ellipse">
            <a:avLst/>
          </a:prstGeom>
          <a:solidFill>
            <a:srgbClr val="FBE9E7"/>
          </a:solidFill>
          <a:ln/>
        </p:spPr>
      </p:sp>
      <p:pic>
        <p:nvPicPr>
          <p:cNvPr id="78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81228" y="5445252"/>
            <a:ext cx="192024" cy="192024"/>
          </a:xfrm>
          <a:prstGeom prst="rect">
            <a:avLst/>
          </a:prstGeom>
        </p:spPr>
      </p:pic>
      <p:sp>
        <p:nvSpPr>
          <p:cNvPr id="79" name="Text 53"/>
          <p:cNvSpPr txBox="1"/>
          <p:nvPr/>
        </p:nvSpPr>
        <p:spPr>
          <a:xfrm>
            <a:off x="1097280" y="532180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Deficit</a:t>
            </a:r>
            <a:endParaRPr lang="en-US" sz="1350" dirty="0"/>
          </a:p>
        </p:txBody>
      </p:sp>
      <p:sp>
        <p:nvSpPr>
          <p:cNvPr id="80" name="Text 54"/>
          <p:cNvSpPr txBox="1"/>
          <p:nvPr/>
        </p:nvSpPr>
        <p:spPr>
          <a:xfrm>
            <a:off x="1097280" y="55595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decisions need verifiable answers</a:t>
            </a:r>
            <a:endParaRPr lang="en-US" sz="1050" dirty="0"/>
          </a:p>
        </p:txBody>
      </p:sp>
      <p:pic>
        <p:nvPicPr>
          <p:cNvPr id="81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773168" y="5468112"/>
            <a:ext cx="146304" cy="146304"/>
          </a:xfrm>
          <a:prstGeom prst="rect">
            <a:avLst/>
          </a:prstGeom>
        </p:spPr>
      </p:pic>
      <p:pic>
        <p:nvPicPr>
          <p:cNvPr id="82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272223" y="5468112"/>
            <a:ext cx="146304" cy="146304"/>
          </a:xfrm>
          <a:prstGeom prst="rect">
            <a:avLst/>
          </a:prstGeom>
        </p:spPr>
      </p:pic>
      <p:sp>
        <p:nvSpPr>
          <p:cNvPr id="83" name="Shape 55"/>
          <p:cNvSpPr/>
          <p:nvPr/>
        </p:nvSpPr>
        <p:spPr>
          <a:xfrm>
            <a:off x="7573975" y="5257800"/>
            <a:ext cx="4160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19050" dir="5400000">
              <a:srgbClr val="0B1F3A">
                <a:alpha val="12000"/>
              </a:srgbClr>
            </a:outerShdw>
          </a:effectLst>
        </p:spPr>
      </p:sp>
      <p:sp>
        <p:nvSpPr>
          <p:cNvPr id="84" name="Shape 56"/>
          <p:cNvSpPr/>
          <p:nvPr/>
        </p:nvSpPr>
        <p:spPr>
          <a:xfrm>
            <a:off x="7701991" y="5349240"/>
            <a:ext cx="384048" cy="384048"/>
          </a:xfrm>
          <a:prstGeom prst="ellipse">
            <a:avLst/>
          </a:prstGeom>
          <a:solidFill>
            <a:srgbClr val="0E8C7F"/>
          </a:solidFill>
          <a:ln/>
        </p:spPr>
      </p:sp>
      <p:pic>
        <p:nvPicPr>
          <p:cNvPr id="85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793431" y="5440680"/>
            <a:ext cx="201168" cy="201168"/>
          </a:xfrm>
          <a:prstGeom prst="rect">
            <a:avLst/>
          </a:prstGeom>
        </p:spPr>
      </p:pic>
      <p:sp>
        <p:nvSpPr>
          <p:cNvPr id="86" name="Text 57"/>
          <p:cNvSpPr txBox="1"/>
          <p:nvPr/>
        </p:nvSpPr>
        <p:spPr>
          <a:xfrm>
            <a:off x="8214055" y="532180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&amp; Auditable</a:t>
            </a:r>
            <a:endParaRPr lang="en-US" sz="1350" dirty="0"/>
          </a:p>
        </p:txBody>
      </p:sp>
      <p:sp>
        <p:nvSpPr>
          <p:cNvPr id="87" name="Text 58"/>
          <p:cNvSpPr txBox="1"/>
          <p:nvPr/>
        </p:nvSpPr>
        <p:spPr>
          <a:xfrm>
            <a:off x="8214055" y="55595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cited, validated and audit-logged</a:t>
            </a:r>
            <a:endParaRPr lang="en-US" sz="1050" dirty="0"/>
          </a:p>
        </p:txBody>
      </p:sp>
      <p:sp>
        <p:nvSpPr>
          <p:cNvPr id="88" name="Text 59"/>
          <p:cNvSpPr txBox="1"/>
          <p:nvPr/>
        </p:nvSpPr>
        <p:spPr>
          <a:xfrm>
            <a:off x="457200" y="6089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89" name="Shape 60"/>
          <p:cNvSpPr/>
          <p:nvPr/>
        </p:nvSpPr>
        <p:spPr>
          <a:xfrm>
            <a:off x="1508760" y="6071616"/>
            <a:ext cx="329184" cy="329184"/>
          </a:xfrm>
          <a:prstGeom prst="ellipse">
            <a:avLst/>
          </a:prstGeom>
          <a:solidFill>
            <a:srgbClr val="E3F3F1"/>
          </a:solidFill>
          <a:ln/>
        </p:spPr>
      </p:sp>
      <p:pic>
        <p:nvPicPr>
          <p:cNvPr id="90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591056" y="6153912"/>
            <a:ext cx="164592" cy="164592"/>
          </a:xfrm>
          <a:prstGeom prst="rect">
            <a:avLst/>
          </a:prstGeom>
        </p:spPr>
      </p:pic>
      <p:sp>
        <p:nvSpPr>
          <p:cNvPr id="91" name="Text 61"/>
          <p:cNvSpPr txBox="1"/>
          <p:nvPr/>
        </p:nvSpPr>
        <p:spPr>
          <a:xfrm>
            <a:off x="1929384" y="6089904"/>
            <a:ext cx="15879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</a:t>
            </a:r>
            <a:endParaRPr lang="en-US" sz="1250" dirty="0"/>
          </a:p>
        </p:txBody>
      </p:sp>
      <p:sp>
        <p:nvSpPr>
          <p:cNvPr id="92" name="Shape 62"/>
          <p:cNvSpPr/>
          <p:nvPr/>
        </p:nvSpPr>
        <p:spPr>
          <a:xfrm>
            <a:off x="3553907" y="6071616"/>
            <a:ext cx="329184" cy="329184"/>
          </a:xfrm>
          <a:prstGeom prst="ellipse">
            <a:avLst/>
          </a:prstGeom>
          <a:solidFill>
            <a:srgbClr val="E3F3F1"/>
          </a:solidFill>
          <a:ln/>
        </p:spPr>
      </p:sp>
      <p:pic>
        <p:nvPicPr>
          <p:cNvPr id="93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636203" y="6153912"/>
            <a:ext cx="164592" cy="164592"/>
          </a:xfrm>
          <a:prstGeom prst="rect">
            <a:avLst/>
          </a:prstGeom>
        </p:spPr>
      </p:pic>
      <p:sp>
        <p:nvSpPr>
          <p:cNvPr id="94" name="Text 63"/>
          <p:cNvSpPr txBox="1"/>
          <p:nvPr/>
        </p:nvSpPr>
        <p:spPr>
          <a:xfrm>
            <a:off x="3974531" y="6089904"/>
            <a:ext cx="15879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Decisions</a:t>
            </a:r>
            <a:endParaRPr lang="en-US" sz="1250" dirty="0"/>
          </a:p>
        </p:txBody>
      </p:sp>
      <p:sp>
        <p:nvSpPr>
          <p:cNvPr id="95" name="Shape 64"/>
          <p:cNvSpPr/>
          <p:nvPr/>
        </p:nvSpPr>
        <p:spPr>
          <a:xfrm>
            <a:off x="5599054" y="6071616"/>
            <a:ext cx="329184" cy="329184"/>
          </a:xfrm>
          <a:prstGeom prst="ellipse">
            <a:avLst/>
          </a:prstGeom>
          <a:solidFill>
            <a:srgbClr val="E3F3F1"/>
          </a:solidFill>
          <a:ln/>
        </p:spPr>
      </p:sp>
      <p:pic>
        <p:nvPicPr>
          <p:cNvPr id="96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681350" y="6153912"/>
            <a:ext cx="164592" cy="164592"/>
          </a:xfrm>
          <a:prstGeom prst="rect">
            <a:avLst/>
          </a:prstGeom>
        </p:spPr>
      </p:pic>
      <p:sp>
        <p:nvSpPr>
          <p:cNvPr id="97" name="Text 65"/>
          <p:cNvSpPr txBox="1"/>
          <p:nvPr/>
        </p:nvSpPr>
        <p:spPr>
          <a:xfrm>
            <a:off x="6019678" y="6089904"/>
            <a:ext cx="15879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Productivity</a:t>
            </a:r>
            <a:endParaRPr lang="en-US" sz="1250" dirty="0"/>
          </a:p>
        </p:txBody>
      </p:sp>
      <p:sp>
        <p:nvSpPr>
          <p:cNvPr id="98" name="Shape 66"/>
          <p:cNvSpPr/>
          <p:nvPr/>
        </p:nvSpPr>
        <p:spPr>
          <a:xfrm>
            <a:off x="7644201" y="6071616"/>
            <a:ext cx="329184" cy="329184"/>
          </a:xfrm>
          <a:prstGeom prst="ellipse">
            <a:avLst/>
          </a:prstGeom>
          <a:solidFill>
            <a:srgbClr val="E3F3F1"/>
          </a:solidFill>
          <a:ln/>
        </p:spPr>
      </p:sp>
      <p:pic>
        <p:nvPicPr>
          <p:cNvPr id="99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726497" y="6153912"/>
            <a:ext cx="164592" cy="164592"/>
          </a:xfrm>
          <a:prstGeom prst="rect">
            <a:avLst/>
          </a:prstGeom>
        </p:spPr>
      </p:pic>
      <p:sp>
        <p:nvSpPr>
          <p:cNvPr id="100" name="Text 67"/>
          <p:cNvSpPr txBox="1"/>
          <p:nvPr/>
        </p:nvSpPr>
        <p:spPr>
          <a:xfrm>
            <a:off x="8064825" y="6089904"/>
            <a:ext cx="15879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Preserved</a:t>
            </a:r>
            <a:endParaRPr lang="en-US" sz="1250" dirty="0"/>
          </a:p>
        </p:txBody>
      </p:sp>
      <p:sp>
        <p:nvSpPr>
          <p:cNvPr id="101" name="Shape 68"/>
          <p:cNvSpPr/>
          <p:nvPr/>
        </p:nvSpPr>
        <p:spPr>
          <a:xfrm>
            <a:off x="9689348" y="6071616"/>
            <a:ext cx="329184" cy="329184"/>
          </a:xfrm>
          <a:prstGeom prst="ellipse">
            <a:avLst/>
          </a:prstGeom>
          <a:solidFill>
            <a:srgbClr val="E3F3F1"/>
          </a:solidFill>
          <a:ln/>
        </p:spPr>
      </p:sp>
      <p:pic>
        <p:nvPicPr>
          <p:cNvPr id="102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771644" y="6153912"/>
            <a:ext cx="164592" cy="164592"/>
          </a:xfrm>
          <a:prstGeom prst="rect">
            <a:avLst/>
          </a:prstGeom>
        </p:spPr>
      </p:pic>
      <p:sp>
        <p:nvSpPr>
          <p:cNvPr id="103" name="Text 69"/>
          <p:cNvSpPr txBox="1"/>
          <p:nvPr/>
        </p:nvSpPr>
        <p:spPr>
          <a:xfrm>
            <a:off x="10109972" y="6089904"/>
            <a:ext cx="15879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Operations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Drishti — Problem &amp; Solution</dc:title>
  <dc:subject>PptxGenJS Presentation</dc:subject>
  <dc:creator>PptxGenJS</dc:creator>
  <cp:lastModifiedBy>PptxGenJS</cp:lastModifiedBy>
  <cp:revision>1</cp:revision>
  <dcterms:created xsi:type="dcterms:W3CDTF">2026-09-16T04:25:50Z</dcterms:created>
  <dcterms:modified xsi:type="dcterms:W3CDTF">2026-09-16T04:25:50Z</dcterms:modified>
</cp:coreProperties>
</file>